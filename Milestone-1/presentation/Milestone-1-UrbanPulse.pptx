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6"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3" d="100"/>
          <a:sy n="53" d="100"/>
        </p:scale>
        <p:origin x="1152"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1491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647"/>
        </a:solidFill>
        <a:effectLst/>
      </p:bgPr>
    </p:bg>
    <p:spTree>
      <p:nvGrpSpPr>
        <p:cNvPr id="1" name=""/>
        <p:cNvGrpSpPr/>
        <p:nvPr/>
      </p:nvGrpSpPr>
      <p:grpSpPr>
        <a:xfrm>
          <a:off x="0" y="0"/>
          <a:ext cx="0" cy="0"/>
          <a:chOff x="0" y="0"/>
          <a:chExt cx="0" cy="0"/>
        </a:xfrm>
      </p:grpSpPr>
      <p:sp>
        <p:nvSpPr>
          <p:cNvPr id="2" name="Shape 0"/>
          <p:cNvSpPr/>
          <p:nvPr/>
        </p:nvSpPr>
        <p:spPr>
          <a:xfrm>
            <a:off x="8961120" y="-1463040"/>
            <a:ext cx="5029200" cy="5029200"/>
          </a:xfrm>
          <a:prstGeom prst="ellipse">
            <a:avLst/>
          </a:prstGeom>
          <a:solidFill>
            <a:srgbClr val="144272">
              <a:alpha val="45000"/>
            </a:srgbClr>
          </a:solidFill>
          <a:ln/>
        </p:spPr>
      </p:sp>
      <p:sp>
        <p:nvSpPr>
          <p:cNvPr id="3" name="Shape 1"/>
          <p:cNvSpPr/>
          <p:nvPr/>
        </p:nvSpPr>
        <p:spPr>
          <a:xfrm>
            <a:off x="10241280" y="4206240"/>
            <a:ext cx="3657600" cy="3657600"/>
          </a:xfrm>
          <a:prstGeom prst="ellipse">
            <a:avLst/>
          </a:prstGeom>
          <a:solidFill>
            <a:srgbClr val="2C74B3">
              <a:alpha val="40000"/>
            </a:srgbClr>
          </a:solidFill>
          <a:ln/>
        </p:spPr>
      </p:sp>
      <p:sp>
        <p:nvSpPr>
          <p:cNvPr id="4" name="Shape 2"/>
          <p:cNvSpPr/>
          <p:nvPr/>
        </p:nvSpPr>
        <p:spPr>
          <a:xfrm>
            <a:off x="-1371600" y="4754880"/>
            <a:ext cx="3200400" cy="3200400"/>
          </a:xfrm>
          <a:prstGeom prst="ellipse">
            <a:avLst/>
          </a:prstGeom>
          <a:solidFill>
            <a:srgbClr val="2C74B3">
              <a:alpha val="40000"/>
            </a:srgbClr>
          </a:solidFill>
          <a:ln/>
        </p:spPr>
      </p:sp>
      <p:sp>
        <p:nvSpPr>
          <p:cNvPr id="5" name="Shape 3"/>
          <p:cNvSpPr/>
          <p:nvPr/>
        </p:nvSpPr>
        <p:spPr>
          <a:xfrm>
            <a:off x="822960" y="822960"/>
            <a:ext cx="822960" cy="822960"/>
          </a:xfrm>
          <a:prstGeom prst="ellipse">
            <a:avLst/>
          </a:prstGeom>
          <a:solidFill>
            <a:srgbClr val="FF6B35"/>
          </a:solidFill>
          <a:ln/>
        </p:spPr>
      </p:sp>
      <p:pic>
        <p:nvPicPr>
          <p:cNvPr id="6" name="Image 0" descr="icons/pulse.png"/>
          <p:cNvPicPr>
            <a:picLocks noChangeAspect="1"/>
          </p:cNvPicPr>
          <p:nvPr/>
        </p:nvPicPr>
        <p:blipFill>
          <a:blip r:embed="rId3"/>
          <a:stretch>
            <a:fillRect/>
          </a:stretch>
        </p:blipFill>
        <p:spPr>
          <a:xfrm>
            <a:off x="1008126" y="1008126"/>
            <a:ext cx="452628" cy="452628"/>
          </a:xfrm>
          <a:prstGeom prst="rect">
            <a:avLst/>
          </a:prstGeom>
        </p:spPr>
      </p:pic>
      <p:sp>
        <p:nvSpPr>
          <p:cNvPr id="7" name="Text 4"/>
          <p:cNvSpPr/>
          <p:nvPr/>
        </p:nvSpPr>
        <p:spPr>
          <a:xfrm>
            <a:off x="1828800" y="868680"/>
            <a:ext cx="8229600" cy="457200"/>
          </a:xfrm>
          <a:prstGeom prst="rect">
            <a:avLst/>
          </a:prstGeom>
          <a:noFill/>
          <a:ln/>
        </p:spPr>
        <p:txBody>
          <a:bodyPr wrap="square" rtlCol="0" anchor="ctr"/>
          <a:lstStyle/>
          <a:p>
            <a:pPr marL="0" indent="0">
              <a:buNone/>
            </a:pPr>
            <a:r>
              <a:rPr lang="en-US" sz="1300" b="1" kern="0" spc="200" dirty="0">
                <a:solidFill>
                  <a:srgbClr val="9FB7CC"/>
                </a:solidFill>
                <a:latin typeface="Calibri" pitchFamily="34" charset="0"/>
                <a:ea typeface="Calibri" pitchFamily="34" charset="-122"/>
                <a:cs typeface="Calibri" pitchFamily="34" charset="-120"/>
              </a:rPr>
              <a:t>SMART CITY MOBILITY INTELLIGENCE PLATFORM</a:t>
            </a:r>
            <a:endParaRPr lang="en-US" sz="1300" dirty="0"/>
          </a:p>
        </p:txBody>
      </p:sp>
      <p:sp>
        <p:nvSpPr>
          <p:cNvPr id="8" name="Text 5"/>
          <p:cNvSpPr/>
          <p:nvPr/>
        </p:nvSpPr>
        <p:spPr>
          <a:xfrm>
            <a:off x="777240" y="2651760"/>
            <a:ext cx="10515600" cy="146304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Urban Pulse</a:t>
            </a:r>
            <a:endParaRPr lang="en-US" sz="6000" dirty="0"/>
          </a:p>
        </p:txBody>
      </p:sp>
      <p:sp>
        <p:nvSpPr>
          <p:cNvPr id="9" name="Text 6"/>
          <p:cNvSpPr/>
          <p:nvPr/>
        </p:nvSpPr>
        <p:spPr>
          <a:xfrm>
            <a:off x="822960" y="3977640"/>
            <a:ext cx="8778240" cy="914400"/>
          </a:xfrm>
          <a:prstGeom prst="rect">
            <a:avLst/>
          </a:prstGeom>
          <a:noFill/>
          <a:ln/>
        </p:spPr>
        <p:txBody>
          <a:bodyPr wrap="square" rtlCol="0" anchor="ctr"/>
          <a:lstStyle/>
          <a:p>
            <a:pPr marL="0" indent="0">
              <a:lnSpc>
                <a:spcPct val="120000"/>
              </a:lnSpc>
              <a:buNone/>
            </a:pPr>
            <a:r>
              <a:rPr lang="en-US" sz="1600" dirty="0">
                <a:solidFill>
                  <a:srgbClr val="CADCFC"/>
                </a:solidFill>
                <a:latin typeface="Calibri" pitchFamily="34" charset="0"/>
                <a:ea typeface="Calibri" pitchFamily="34" charset="-122"/>
                <a:cs typeface="Calibri" pitchFamily="34" charset="-120"/>
              </a:rPr>
              <a:t>Integrated analytics for transit, ride-hailing, cycling, weather, and demographic data — unified into one urban mobility decision-support platform.</a:t>
            </a:r>
            <a:endParaRPr lang="en-US" sz="1600" dirty="0"/>
          </a:p>
        </p:txBody>
      </p:sp>
      <p:sp>
        <p:nvSpPr>
          <p:cNvPr id="10" name="Text 7"/>
          <p:cNvSpPr/>
          <p:nvPr/>
        </p:nvSpPr>
        <p:spPr>
          <a:xfrm>
            <a:off x="822960" y="5257800"/>
            <a:ext cx="1463040" cy="548640"/>
          </a:xfrm>
          <a:prstGeom prst="rect">
            <a:avLst/>
          </a:prstGeom>
          <a:noFill/>
          <a:ln/>
        </p:spPr>
        <p:txBody>
          <a:bodyPr wrap="square" rtlCol="0" anchor="ctr"/>
          <a:lstStyle/>
          <a:p>
            <a:pPr marL="0" indent="0">
              <a:buNone/>
            </a:pPr>
            <a:endParaRPr lang="en-US" sz="3000" dirty="0"/>
          </a:p>
        </p:txBody>
      </p:sp>
      <p:sp>
        <p:nvSpPr>
          <p:cNvPr id="11" name="Text 8"/>
          <p:cNvSpPr/>
          <p:nvPr/>
        </p:nvSpPr>
        <p:spPr>
          <a:xfrm>
            <a:off x="822960" y="5806440"/>
            <a:ext cx="2194560" cy="365760"/>
          </a:xfrm>
          <a:prstGeom prst="rect">
            <a:avLst/>
          </a:prstGeom>
          <a:noFill/>
          <a:ln/>
        </p:spPr>
        <p:txBody>
          <a:bodyPr wrap="square" rtlCol="0" anchor="ctr"/>
          <a:lstStyle/>
          <a:p>
            <a:pPr marL="0" indent="0">
              <a:buNone/>
            </a:pPr>
            <a:endParaRPr lang="en-US" sz="1050" dirty="0"/>
          </a:p>
        </p:txBody>
      </p:sp>
      <p:sp>
        <p:nvSpPr>
          <p:cNvPr id="12" name="Text 9"/>
          <p:cNvSpPr/>
          <p:nvPr/>
        </p:nvSpPr>
        <p:spPr>
          <a:xfrm>
            <a:off x="2834640" y="5257800"/>
            <a:ext cx="1463040" cy="548640"/>
          </a:xfrm>
          <a:prstGeom prst="rect">
            <a:avLst/>
          </a:prstGeom>
          <a:noFill/>
          <a:ln/>
        </p:spPr>
        <p:txBody>
          <a:bodyPr wrap="square" rtlCol="0" anchor="ctr"/>
          <a:lstStyle/>
          <a:p>
            <a:pPr marL="0" indent="0">
              <a:buNone/>
            </a:pPr>
            <a:endParaRPr lang="en-US" sz="3000" dirty="0"/>
          </a:p>
        </p:txBody>
      </p:sp>
      <p:sp>
        <p:nvSpPr>
          <p:cNvPr id="13" name="Text 10"/>
          <p:cNvSpPr/>
          <p:nvPr/>
        </p:nvSpPr>
        <p:spPr>
          <a:xfrm>
            <a:off x="2834640" y="5806440"/>
            <a:ext cx="2194560" cy="365760"/>
          </a:xfrm>
          <a:prstGeom prst="rect">
            <a:avLst/>
          </a:prstGeom>
          <a:noFill/>
          <a:ln/>
        </p:spPr>
        <p:txBody>
          <a:bodyPr wrap="square" rtlCol="0" anchor="ctr"/>
          <a:lstStyle/>
          <a:p>
            <a:pPr marL="0" indent="0">
              <a:buNone/>
            </a:pPr>
            <a:endParaRPr lang="en-US" sz="1050" dirty="0"/>
          </a:p>
        </p:txBody>
      </p:sp>
      <p:sp>
        <p:nvSpPr>
          <p:cNvPr id="14" name="Text 11"/>
          <p:cNvSpPr/>
          <p:nvPr/>
        </p:nvSpPr>
        <p:spPr>
          <a:xfrm>
            <a:off x="4846320" y="5257800"/>
            <a:ext cx="1463040" cy="548640"/>
          </a:xfrm>
          <a:prstGeom prst="rect">
            <a:avLst/>
          </a:prstGeom>
          <a:noFill/>
          <a:ln/>
        </p:spPr>
        <p:txBody>
          <a:bodyPr wrap="square" rtlCol="0" anchor="ctr"/>
          <a:lstStyle/>
          <a:p>
            <a:pPr marL="0" indent="0">
              <a:buNone/>
            </a:pPr>
            <a:endParaRPr lang="en-US" sz="3000" dirty="0"/>
          </a:p>
        </p:txBody>
      </p:sp>
      <p:sp>
        <p:nvSpPr>
          <p:cNvPr id="15" name="Text 12"/>
          <p:cNvSpPr/>
          <p:nvPr/>
        </p:nvSpPr>
        <p:spPr>
          <a:xfrm>
            <a:off x="4846320" y="5806440"/>
            <a:ext cx="2194560" cy="365760"/>
          </a:xfrm>
          <a:prstGeom prst="rect">
            <a:avLst/>
          </a:prstGeom>
          <a:noFill/>
          <a:ln/>
        </p:spPr>
        <p:txBody>
          <a:bodyPr wrap="square" rtlCol="0" anchor="ctr"/>
          <a:lstStyle/>
          <a:p>
            <a:pPr marL="0" indent="0">
              <a:buNone/>
            </a:pP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marL="0" indent="0">
              <a:buNone/>
            </a:pPr>
            <a:r>
              <a:rPr lang="en-US" sz="3000" b="1" dirty="0">
                <a:solidFill>
                  <a:srgbClr val="0A2647"/>
                </a:solidFill>
                <a:latin typeface="Cambria" pitchFamily="34" charset="0"/>
                <a:ea typeface="Cambria" pitchFamily="34" charset="-122"/>
                <a:cs typeface="Cambria" pitchFamily="34" charset="-120"/>
              </a:rPr>
              <a:t>Project Statement</a:t>
            </a:r>
            <a:endParaRPr lang="en-US" sz="3000" dirty="0"/>
          </a:p>
        </p:txBody>
      </p:sp>
      <p:sp>
        <p:nvSpPr>
          <p:cNvPr id="3" name="Shape 1"/>
          <p:cNvSpPr/>
          <p:nvPr/>
        </p:nvSpPr>
        <p:spPr>
          <a:xfrm>
            <a:off x="548640" y="1143000"/>
            <a:ext cx="11064240" cy="18288"/>
          </a:xfrm>
          <a:prstGeom prst="rect">
            <a:avLst/>
          </a:prstGeom>
          <a:solidFill>
            <a:srgbClr val="D9E6EF"/>
          </a:solidFill>
          <a:ln/>
        </p:spPr>
      </p:sp>
      <p:sp>
        <p:nvSpPr>
          <p:cNvPr id="4" name="Shape 2"/>
          <p:cNvSpPr/>
          <p:nvPr/>
        </p:nvSpPr>
        <p:spPr>
          <a:xfrm>
            <a:off x="548639" y="2571750"/>
            <a:ext cx="5150411" cy="3737610"/>
          </a:xfrm>
          <a:prstGeom prst="roundRect">
            <a:avLst>
              <a:gd name="adj" fmla="val 1942"/>
            </a:avLst>
          </a:prstGeom>
          <a:solidFill>
            <a:srgbClr val="F4F8FB"/>
          </a:solidFill>
          <a:ln/>
        </p:spPr>
        <p:txBody>
          <a:bodyPr/>
          <a:lstStyle/>
          <a:p>
            <a:pPr algn="just"/>
            <a:r>
              <a:rPr lang="en-GB" b="1" dirty="0"/>
              <a:t>Modern cities generate a large amount of transportation data from different sources such as public buses, metro services, ride-hailing apps, cycling systems, traffic sensors, weather reports, and GPS devices. However, this data is stored in separate systems and is not connected. Because of this, city planners and transport authorities find it difficult to get a complete view of the city's transportation network. This leads to problems like traffic congestion, poor route planning, delayed services, and inefficient decision-making.</a:t>
            </a:r>
          </a:p>
        </p:txBody>
      </p:sp>
      <p:sp>
        <p:nvSpPr>
          <p:cNvPr id="5" name="Shape 3"/>
          <p:cNvSpPr/>
          <p:nvPr/>
        </p:nvSpPr>
        <p:spPr>
          <a:xfrm>
            <a:off x="868680" y="1828800"/>
            <a:ext cx="594360" cy="594360"/>
          </a:xfrm>
          <a:prstGeom prst="ellipse">
            <a:avLst/>
          </a:prstGeom>
          <a:solidFill>
            <a:srgbClr val="FF6B35"/>
          </a:solidFill>
          <a:ln/>
        </p:spPr>
      </p:sp>
      <p:pic>
        <p:nvPicPr>
          <p:cNvPr id="6" name="Image 0" descr="icons/triangle.png"/>
          <p:cNvPicPr>
            <a:picLocks noChangeAspect="1"/>
          </p:cNvPicPr>
          <p:nvPr/>
        </p:nvPicPr>
        <p:blipFill>
          <a:blip r:embed="rId3"/>
          <a:stretch>
            <a:fillRect/>
          </a:stretch>
        </p:blipFill>
        <p:spPr>
          <a:xfrm>
            <a:off x="1017270" y="1977390"/>
            <a:ext cx="297180" cy="297180"/>
          </a:xfrm>
          <a:prstGeom prst="rect">
            <a:avLst/>
          </a:prstGeom>
        </p:spPr>
      </p:pic>
      <p:sp>
        <p:nvSpPr>
          <p:cNvPr id="7" name="Text 4"/>
          <p:cNvSpPr/>
          <p:nvPr/>
        </p:nvSpPr>
        <p:spPr>
          <a:xfrm>
            <a:off x="1600200" y="1874520"/>
            <a:ext cx="4023360" cy="457200"/>
          </a:xfrm>
          <a:prstGeom prst="rect">
            <a:avLst/>
          </a:prstGeom>
          <a:noFill/>
          <a:ln/>
        </p:spPr>
        <p:txBody>
          <a:bodyPr wrap="square" rtlCol="0" anchor="ctr"/>
          <a:lstStyle/>
          <a:p>
            <a:pPr marL="0" indent="0">
              <a:buNone/>
            </a:pPr>
            <a:r>
              <a:rPr lang="en-US" sz="1500" b="1" dirty="0">
                <a:solidFill>
                  <a:srgbClr val="0A2647"/>
                </a:solidFill>
                <a:latin typeface="Calibri" pitchFamily="34" charset="0"/>
                <a:ea typeface="Calibri" pitchFamily="34" charset="-122"/>
                <a:cs typeface="Calibri" pitchFamily="34" charset="-120"/>
              </a:rPr>
              <a:t>THE PROBLEM</a:t>
            </a:r>
            <a:endParaRPr lang="en-US" sz="1500" dirty="0"/>
          </a:p>
        </p:txBody>
      </p:sp>
      <p:sp>
        <p:nvSpPr>
          <p:cNvPr id="8" name="Text 5"/>
          <p:cNvSpPr/>
          <p:nvPr/>
        </p:nvSpPr>
        <p:spPr>
          <a:xfrm>
            <a:off x="868680" y="2606040"/>
            <a:ext cx="4709160" cy="3383280"/>
          </a:xfrm>
          <a:prstGeom prst="rect">
            <a:avLst/>
          </a:prstGeom>
          <a:noFill/>
          <a:ln/>
        </p:spPr>
        <p:txBody>
          <a:bodyPr wrap="square" rtlCol="0" anchor="ctr"/>
          <a:lstStyle/>
          <a:p>
            <a:pPr marL="0" indent="0">
              <a:lnSpc>
                <a:spcPct val="135000"/>
              </a:lnSpc>
              <a:buNone/>
            </a:pPr>
            <a:endParaRPr lang="en-US" sz="1350" dirty="0"/>
          </a:p>
        </p:txBody>
      </p:sp>
      <p:sp>
        <p:nvSpPr>
          <p:cNvPr id="9" name="Shape 6"/>
          <p:cNvSpPr/>
          <p:nvPr/>
        </p:nvSpPr>
        <p:spPr>
          <a:xfrm>
            <a:off x="6172200" y="1508760"/>
            <a:ext cx="5468112" cy="4709160"/>
          </a:xfrm>
          <a:prstGeom prst="roundRect">
            <a:avLst>
              <a:gd name="adj" fmla="val 1942"/>
            </a:avLst>
          </a:prstGeom>
          <a:solidFill>
            <a:srgbClr val="0A2647"/>
          </a:solidFill>
          <a:ln/>
        </p:spPr>
      </p:sp>
      <p:sp>
        <p:nvSpPr>
          <p:cNvPr id="10" name="Shape 7"/>
          <p:cNvSpPr/>
          <p:nvPr/>
        </p:nvSpPr>
        <p:spPr>
          <a:xfrm>
            <a:off x="6492240" y="1828800"/>
            <a:ext cx="594360" cy="594360"/>
          </a:xfrm>
          <a:prstGeom prst="ellipse">
            <a:avLst/>
          </a:prstGeom>
          <a:solidFill>
            <a:srgbClr val="FF6B35"/>
          </a:solidFill>
          <a:ln/>
        </p:spPr>
      </p:sp>
      <p:pic>
        <p:nvPicPr>
          <p:cNvPr id="11" name="Image 1" descr="icons/bulb.png"/>
          <p:cNvPicPr>
            <a:picLocks noChangeAspect="1"/>
          </p:cNvPicPr>
          <p:nvPr/>
        </p:nvPicPr>
        <p:blipFill>
          <a:blip r:embed="rId4"/>
          <a:stretch>
            <a:fillRect/>
          </a:stretch>
        </p:blipFill>
        <p:spPr>
          <a:xfrm>
            <a:off x="6640830" y="1977390"/>
            <a:ext cx="297180" cy="297180"/>
          </a:xfrm>
          <a:prstGeom prst="rect">
            <a:avLst/>
          </a:prstGeom>
        </p:spPr>
      </p:pic>
      <p:sp>
        <p:nvSpPr>
          <p:cNvPr id="12" name="Text 8"/>
          <p:cNvSpPr/>
          <p:nvPr/>
        </p:nvSpPr>
        <p:spPr>
          <a:xfrm>
            <a:off x="7223760" y="1874520"/>
            <a:ext cx="411480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SOLUTION</a:t>
            </a:r>
            <a:endParaRPr lang="en-US" sz="1500" dirty="0"/>
          </a:p>
        </p:txBody>
      </p:sp>
      <p:sp>
        <p:nvSpPr>
          <p:cNvPr id="13" name="Text 9"/>
          <p:cNvSpPr/>
          <p:nvPr/>
        </p:nvSpPr>
        <p:spPr>
          <a:xfrm>
            <a:off x="6492240" y="2606040"/>
            <a:ext cx="4846320" cy="3305662"/>
          </a:xfrm>
          <a:prstGeom prst="rect">
            <a:avLst/>
          </a:prstGeom>
          <a:noFill/>
          <a:ln/>
        </p:spPr>
        <p:txBody>
          <a:bodyPr wrap="square" rtlCol="0" anchor="ctr"/>
          <a:lstStyle/>
          <a:p>
            <a:pPr algn="just"/>
            <a:r>
              <a:rPr lang="en-GB" b="1" dirty="0">
                <a:solidFill>
                  <a:schemeClr val="bg1"/>
                </a:solidFill>
              </a:rPr>
              <a:t>Urban Pulse</a:t>
            </a:r>
            <a:r>
              <a:rPr lang="en-GB" dirty="0">
                <a:solidFill>
                  <a:schemeClr val="bg1"/>
                </a:solidFill>
              </a:rPr>
              <a:t> is a Smart City Mobility Intelligence Platform that combines transportation data from multiple sources into one centralized system. It provides interactive dashboards, maps, and visual reports that help users monitor traffic conditions, </a:t>
            </a:r>
            <a:r>
              <a:rPr lang="en-GB" dirty="0" err="1">
                <a:solidFill>
                  <a:schemeClr val="bg1"/>
                </a:solidFill>
              </a:rPr>
              <a:t>analyze</a:t>
            </a:r>
            <a:r>
              <a:rPr lang="en-GB" dirty="0">
                <a:solidFill>
                  <a:schemeClr val="bg1"/>
                </a:solidFill>
              </a:rPr>
              <a:t> transportation performance, identify congestion areas, and understand mobility patterns. The platform also uses analytics to predict future traffic trends and supports data-driven decision-making, helping city planners improve transportation services and build a smarter, more sustainable city.</a:t>
            </a:r>
          </a:p>
        </p:txBody>
      </p:sp>
      <p:sp>
        <p:nvSpPr>
          <p:cNvPr id="15" name="Text 11"/>
          <p:cNvSpPr/>
          <p:nvPr/>
        </p:nvSpPr>
        <p:spPr>
          <a:xfrm>
            <a:off x="457200" y="6400800"/>
            <a:ext cx="2743200" cy="274320"/>
          </a:xfrm>
          <a:prstGeom prst="rect">
            <a:avLst/>
          </a:prstGeom>
          <a:noFill/>
          <a:ln/>
        </p:spPr>
        <p:txBody>
          <a:bodyPr wrap="square" rtlCol="0" anchor="ctr"/>
          <a:lstStyle/>
          <a:p>
            <a:pPr marL="0" indent="0">
              <a:buNone/>
            </a:pPr>
            <a:r>
              <a:rPr lang="en-US" sz="1000" kern="0" spc="200" dirty="0">
                <a:solidFill>
                  <a:srgbClr val="5B6B79"/>
                </a:solidFill>
                <a:latin typeface="Calibri" pitchFamily="34" charset="0"/>
                <a:ea typeface="Calibri" pitchFamily="34" charset="-122"/>
                <a:cs typeface="Calibri" pitchFamily="34" charset="-120"/>
              </a:rPr>
              <a:t>URBAN PULSE</a:t>
            </a:r>
            <a:endParaRPr lang="en-US" sz="1000" dirty="0"/>
          </a:p>
        </p:txBody>
      </p:sp>
      <p:sp>
        <p:nvSpPr>
          <p:cNvPr id="16" name="Text 12"/>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marL="0" indent="0">
              <a:buNone/>
            </a:pPr>
            <a:r>
              <a:rPr lang="en-US" sz="3000" b="1" dirty="0">
                <a:solidFill>
                  <a:srgbClr val="0A2647"/>
                </a:solidFill>
                <a:latin typeface="Cambria" pitchFamily="34" charset="0"/>
                <a:ea typeface="Cambria" pitchFamily="34" charset="-122"/>
                <a:cs typeface="Cambria" pitchFamily="34" charset="-120"/>
              </a:rPr>
              <a:t>Outcomes</a:t>
            </a:r>
            <a:endParaRPr lang="en-US" sz="3000" dirty="0"/>
          </a:p>
        </p:txBody>
      </p:sp>
      <p:sp>
        <p:nvSpPr>
          <p:cNvPr id="3" name="Text 1"/>
          <p:cNvSpPr/>
          <p:nvPr/>
        </p:nvSpPr>
        <p:spPr>
          <a:xfrm>
            <a:off x="566928" y="960120"/>
            <a:ext cx="7315200" cy="320040"/>
          </a:xfrm>
          <a:prstGeom prst="rect">
            <a:avLst/>
          </a:prstGeom>
          <a:noFill/>
          <a:ln/>
        </p:spPr>
        <p:txBody>
          <a:bodyPr wrap="square" rtlCol="0" anchor="ctr"/>
          <a:lstStyle/>
          <a:p>
            <a:pPr marL="0" indent="0">
              <a:buNone/>
            </a:pPr>
            <a:r>
              <a:rPr lang="en-US" sz="1300" dirty="0">
                <a:solidFill>
                  <a:srgbClr val="5B6B79"/>
                </a:solidFill>
                <a:latin typeface="Calibri" pitchFamily="34" charset="0"/>
                <a:ea typeface="Calibri" pitchFamily="34" charset="-122"/>
                <a:cs typeface="Calibri" pitchFamily="34" charset="-120"/>
              </a:rPr>
              <a:t>What the platform delivers</a:t>
            </a:r>
            <a:endParaRPr lang="en-US" sz="1300" dirty="0"/>
          </a:p>
        </p:txBody>
      </p:sp>
      <p:sp>
        <p:nvSpPr>
          <p:cNvPr id="4" name="Shape 2"/>
          <p:cNvSpPr/>
          <p:nvPr/>
        </p:nvSpPr>
        <p:spPr>
          <a:xfrm>
            <a:off x="548640" y="1463040"/>
            <a:ext cx="2679192" cy="2331720"/>
          </a:xfrm>
          <a:prstGeom prst="roundRect">
            <a:avLst>
              <a:gd name="adj" fmla="val 3137"/>
            </a:avLst>
          </a:prstGeom>
          <a:solidFill>
            <a:srgbClr val="F4F8FB"/>
          </a:solidFill>
          <a:ln/>
          <a:effectLst>
            <a:outerShdw blurRad="76200" dist="25400" dir="5400000" algn="bl" rotWithShape="0">
              <a:srgbClr val="8CA9BF">
                <a:alpha val="25000"/>
              </a:srgbClr>
            </a:outerShdw>
          </a:effectLst>
        </p:spPr>
      </p:sp>
      <p:sp>
        <p:nvSpPr>
          <p:cNvPr id="5" name="Shape 3"/>
          <p:cNvSpPr/>
          <p:nvPr/>
        </p:nvSpPr>
        <p:spPr>
          <a:xfrm>
            <a:off x="749808" y="1664208"/>
            <a:ext cx="566928" cy="566928"/>
          </a:xfrm>
          <a:prstGeom prst="ellipse">
            <a:avLst/>
          </a:prstGeom>
          <a:solidFill>
            <a:srgbClr val="2C74B3"/>
          </a:solidFill>
          <a:ln/>
        </p:spPr>
      </p:sp>
      <p:pic>
        <p:nvPicPr>
          <p:cNvPr id="6" name="Image 0" descr="icons/layers.png"/>
          <p:cNvPicPr>
            <a:picLocks noChangeAspect="1"/>
          </p:cNvPicPr>
          <p:nvPr/>
        </p:nvPicPr>
        <p:blipFill>
          <a:blip r:embed="rId3"/>
          <a:stretch>
            <a:fillRect/>
          </a:stretch>
        </p:blipFill>
        <p:spPr>
          <a:xfrm>
            <a:off x="877367" y="1791767"/>
            <a:ext cx="311810" cy="311810"/>
          </a:xfrm>
          <a:prstGeom prst="rect">
            <a:avLst/>
          </a:prstGeom>
        </p:spPr>
      </p:pic>
      <p:sp>
        <p:nvSpPr>
          <p:cNvPr id="7" name="Text 4"/>
          <p:cNvSpPr/>
          <p:nvPr/>
        </p:nvSpPr>
        <p:spPr>
          <a:xfrm>
            <a:off x="731520" y="2359151"/>
            <a:ext cx="2313432" cy="1116025"/>
          </a:xfrm>
          <a:prstGeom prst="rect">
            <a:avLst/>
          </a:prstGeom>
          <a:noFill/>
          <a:ln/>
        </p:spPr>
        <p:txBody>
          <a:bodyPr wrap="square" rtlCol="0" anchor="ctr"/>
          <a:lstStyle/>
          <a:p>
            <a:pPr algn="just">
              <a:lnSpc>
                <a:spcPct val="105000"/>
              </a:lnSpc>
            </a:pPr>
            <a:r>
              <a:rPr lang="en-GB" sz="1400" b="1" dirty="0"/>
              <a:t>A single platform that integrates data from buses, metro, ride-hailing, cycling, weather, and demographic sources.</a:t>
            </a:r>
            <a:endParaRPr lang="en-US" sz="1250" b="1" dirty="0"/>
          </a:p>
        </p:txBody>
      </p:sp>
      <p:sp>
        <p:nvSpPr>
          <p:cNvPr id="8" name="Text 5"/>
          <p:cNvSpPr/>
          <p:nvPr/>
        </p:nvSpPr>
        <p:spPr>
          <a:xfrm>
            <a:off x="731520" y="2834640"/>
            <a:ext cx="2313432" cy="868680"/>
          </a:xfrm>
          <a:prstGeom prst="rect">
            <a:avLst/>
          </a:prstGeom>
          <a:noFill/>
          <a:ln/>
        </p:spPr>
        <p:txBody>
          <a:bodyPr wrap="square" rtlCol="0" anchor="ctr"/>
          <a:lstStyle/>
          <a:p>
            <a:pPr marL="0" indent="0">
              <a:lnSpc>
                <a:spcPct val="120000"/>
              </a:lnSpc>
              <a:buNone/>
            </a:pPr>
            <a:endParaRPr lang="en-US" sz="1050" dirty="0"/>
          </a:p>
        </p:txBody>
      </p:sp>
      <p:sp>
        <p:nvSpPr>
          <p:cNvPr id="9" name="Shape 6"/>
          <p:cNvSpPr/>
          <p:nvPr/>
        </p:nvSpPr>
        <p:spPr>
          <a:xfrm>
            <a:off x="3392424" y="1463040"/>
            <a:ext cx="2679192" cy="2331720"/>
          </a:xfrm>
          <a:prstGeom prst="roundRect">
            <a:avLst>
              <a:gd name="adj" fmla="val 3137"/>
            </a:avLst>
          </a:prstGeom>
          <a:solidFill>
            <a:srgbClr val="F4F8FB"/>
          </a:solidFill>
          <a:ln/>
          <a:effectLst>
            <a:outerShdw blurRad="76200" dist="25400" dir="5400000" algn="bl" rotWithShape="0">
              <a:srgbClr val="8CA9BF">
                <a:alpha val="25000"/>
              </a:srgbClr>
            </a:outerShdw>
          </a:effectLst>
        </p:spPr>
      </p:sp>
      <p:sp>
        <p:nvSpPr>
          <p:cNvPr id="10" name="Shape 7"/>
          <p:cNvSpPr/>
          <p:nvPr/>
        </p:nvSpPr>
        <p:spPr>
          <a:xfrm>
            <a:off x="3593592" y="1664208"/>
            <a:ext cx="566928" cy="566928"/>
          </a:xfrm>
          <a:prstGeom prst="ellipse">
            <a:avLst/>
          </a:prstGeom>
          <a:solidFill>
            <a:srgbClr val="FF6B35"/>
          </a:solidFill>
          <a:ln/>
        </p:spPr>
      </p:sp>
      <p:pic>
        <p:nvPicPr>
          <p:cNvPr id="11" name="Image 1" descr="icons/chart.png"/>
          <p:cNvPicPr>
            <a:picLocks noChangeAspect="1"/>
          </p:cNvPicPr>
          <p:nvPr/>
        </p:nvPicPr>
        <p:blipFill>
          <a:blip r:embed="rId4"/>
          <a:stretch>
            <a:fillRect/>
          </a:stretch>
        </p:blipFill>
        <p:spPr>
          <a:xfrm>
            <a:off x="3721151" y="1791767"/>
            <a:ext cx="311810" cy="311810"/>
          </a:xfrm>
          <a:prstGeom prst="rect">
            <a:avLst/>
          </a:prstGeom>
        </p:spPr>
      </p:pic>
      <p:sp>
        <p:nvSpPr>
          <p:cNvPr id="12" name="Text 8"/>
          <p:cNvSpPr/>
          <p:nvPr/>
        </p:nvSpPr>
        <p:spPr>
          <a:xfrm>
            <a:off x="3575304" y="2359152"/>
            <a:ext cx="2313432" cy="1116024"/>
          </a:xfrm>
          <a:prstGeom prst="rect">
            <a:avLst/>
          </a:prstGeom>
          <a:noFill/>
          <a:ln/>
        </p:spPr>
        <p:txBody>
          <a:bodyPr wrap="square" rtlCol="0" anchor="ctr"/>
          <a:lstStyle/>
          <a:p>
            <a:pPr algn="just">
              <a:lnSpc>
                <a:spcPct val="105000"/>
              </a:lnSpc>
            </a:pPr>
            <a:r>
              <a:rPr lang="en-GB" sz="1400" b="1" dirty="0"/>
              <a:t>Interactive dashboards to monitor traffic, transport  demand, and transit performance in real time.</a:t>
            </a:r>
            <a:endParaRPr lang="en-US" sz="1200" b="1" dirty="0"/>
          </a:p>
        </p:txBody>
      </p:sp>
      <p:sp>
        <p:nvSpPr>
          <p:cNvPr id="13" name="Text 9"/>
          <p:cNvSpPr/>
          <p:nvPr/>
        </p:nvSpPr>
        <p:spPr>
          <a:xfrm>
            <a:off x="3575304" y="2834640"/>
            <a:ext cx="2313432" cy="868680"/>
          </a:xfrm>
          <a:prstGeom prst="rect">
            <a:avLst/>
          </a:prstGeom>
          <a:noFill/>
          <a:ln/>
        </p:spPr>
        <p:txBody>
          <a:bodyPr wrap="square" rtlCol="0" anchor="ctr"/>
          <a:lstStyle/>
          <a:p>
            <a:pPr marL="0" indent="0">
              <a:lnSpc>
                <a:spcPct val="120000"/>
              </a:lnSpc>
              <a:buNone/>
            </a:pPr>
            <a:endParaRPr lang="en-US" sz="1050" dirty="0"/>
          </a:p>
        </p:txBody>
      </p:sp>
      <p:sp>
        <p:nvSpPr>
          <p:cNvPr id="14" name="Shape 10"/>
          <p:cNvSpPr/>
          <p:nvPr/>
        </p:nvSpPr>
        <p:spPr>
          <a:xfrm>
            <a:off x="6236208" y="1463040"/>
            <a:ext cx="2679192" cy="2331720"/>
          </a:xfrm>
          <a:prstGeom prst="roundRect">
            <a:avLst>
              <a:gd name="adj" fmla="val 3137"/>
            </a:avLst>
          </a:prstGeom>
          <a:solidFill>
            <a:srgbClr val="F4F8FB"/>
          </a:solidFill>
          <a:ln/>
          <a:effectLst>
            <a:outerShdw blurRad="76200" dist="25400" dir="5400000" algn="bl" rotWithShape="0">
              <a:srgbClr val="8CA9BF">
                <a:alpha val="25000"/>
              </a:srgbClr>
            </a:outerShdw>
          </a:effectLst>
        </p:spPr>
      </p:sp>
      <p:sp>
        <p:nvSpPr>
          <p:cNvPr id="15" name="Shape 11"/>
          <p:cNvSpPr/>
          <p:nvPr/>
        </p:nvSpPr>
        <p:spPr>
          <a:xfrm>
            <a:off x="6437376" y="1664208"/>
            <a:ext cx="566928" cy="566928"/>
          </a:xfrm>
          <a:prstGeom prst="ellipse">
            <a:avLst/>
          </a:prstGeom>
          <a:solidFill>
            <a:srgbClr val="2C74B3"/>
          </a:solidFill>
          <a:ln/>
        </p:spPr>
      </p:sp>
      <p:pic>
        <p:nvPicPr>
          <p:cNvPr id="16" name="Image 2" descr="icons/sync.png"/>
          <p:cNvPicPr>
            <a:picLocks noChangeAspect="1"/>
          </p:cNvPicPr>
          <p:nvPr/>
        </p:nvPicPr>
        <p:blipFill>
          <a:blip r:embed="rId5"/>
          <a:stretch>
            <a:fillRect/>
          </a:stretch>
        </p:blipFill>
        <p:spPr>
          <a:xfrm>
            <a:off x="6564935" y="1791767"/>
            <a:ext cx="311810" cy="311810"/>
          </a:xfrm>
          <a:prstGeom prst="rect">
            <a:avLst/>
          </a:prstGeom>
        </p:spPr>
      </p:pic>
      <p:sp>
        <p:nvSpPr>
          <p:cNvPr id="17" name="Text 12"/>
          <p:cNvSpPr/>
          <p:nvPr/>
        </p:nvSpPr>
        <p:spPr>
          <a:xfrm>
            <a:off x="6419088" y="2359152"/>
            <a:ext cx="2313432" cy="996696"/>
          </a:xfrm>
          <a:prstGeom prst="rect">
            <a:avLst/>
          </a:prstGeom>
          <a:noFill/>
          <a:ln/>
        </p:spPr>
        <p:txBody>
          <a:bodyPr wrap="square" rtlCol="0" anchor="ctr"/>
          <a:lstStyle/>
          <a:p>
            <a:pPr algn="just">
              <a:lnSpc>
                <a:spcPct val="105000"/>
              </a:lnSpc>
            </a:pPr>
            <a:r>
              <a:rPr lang="en-GB" sz="1400" b="1" dirty="0"/>
              <a:t>Automatic data collection and updates from multiple public data sources.</a:t>
            </a:r>
            <a:endParaRPr lang="en-US" sz="1200" b="1" dirty="0"/>
          </a:p>
        </p:txBody>
      </p:sp>
      <p:sp>
        <p:nvSpPr>
          <p:cNvPr id="18" name="Text 13"/>
          <p:cNvSpPr/>
          <p:nvPr/>
        </p:nvSpPr>
        <p:spPr>
          <a:xfrm>
            <a:off x="6419088" y="2834640"/>
            <a:ext cx="2313432" cy="868680"/>
          </a:xfrm>
          <a:prstGeom prst="rect">
            <a:avLst/>
          </a:prstGeom>
          <a:noFill/>
          <a:ln/>
        </p:spPr>
        <p:txBody>
          <a:bodyPr wrap="square" rtlCol="0" anchor="ctr"/>
          <a:lstStyle/>
          <a:p>
            <a:pPr marL="0" indent="0">
              <a:lnSpc>
                <a:spcPct val="120000"/>
              </a:lnSpc>
              <a:buNone/>
            </a:pPr>
            <a:endParaRPr lang="en-US" sz="1050" dirty="0"/>
          </a:p>
        </p:txBody>
      </p:sp>
      <p:sp>
        <p:nvSpPr>
          <p:cNvPr id="19" name="Shape 14"/>
          <p:cNvSpPr/>
          <p:nvPr/>
        </p:nvSpPr>
        <p:spPr>
          <a:xfrm>
            <a:off x="9079992" y="1463040"/>
            <a:ext cx="2679192" cy="2331720"/>
          </a:xfrm>
          <a:prstGeom prst="roundRect">
            <a:avLst>
              <a:gd name="adj" fmla="val 3137"/>
            </a:avLst>
          </a:prstGeom>
          <a:solidFill>
            <a:srgbClr val="F4F8FB"/>
          </a:solidFill>
          <a:ln/>
          <a:effectLst>
            <a:outerShdw blurRad="76200" dist="25400" dir="5400000" algn="bl" rotWithShape="0">
              <a:srgbClr val="8CA9BF">
                <a:alpha val="25000"/>
              </a:srgbClr>
            </a:outerShdw>
          </a:effectLst>
        </p:spPr>
      </p:sp>
      <p:sp>
        <p:nvSpPr>
          <p:cNvPr id="20" name="Shape 15"/>
          <p:cNvSpPr/>
          <p:nvPr/>
        </p:nvSpPr>
        <p:spPr>
          <a:xfrm>
            <a:off x="9281160" y="1664208"/>
            <a:ext cx="566928" cy="566928"/>
          </a:xfrm>
          <a:prstGeom prst="ellipse">
            <a:avLst/>
          </a:prstGeom>
          <a:solidFill>
            <a:srgbClr val="FF6B35"/>
          </a:solidFill>
          <a:ln/>
        </p:spPr>
      </p:sp>
      <p:pic>
        <p:nvPicPr>
          <p:cNvPr id="21" name="Image 3" descr="icons/map.png"/>
          <p:cNvPicPr>
            <a:picLocks noChangeAspect="1"/>
          </p:cNvPicPr>
          <p:nvPr/>
        </p:nvPicPr>
        <p:blipFill>
          <a:blip r:embed="rId6"/>
          <a:stretch>
            <a:fillRect/>
          </a:stretch>
        </p:blipFill>
        <p:spPr>
          <a:xfrm>
            <a:off x="9408719" y="1791767"/>
            <a:ext cx="311810" cy="311810"/>
          </a:xfrm>
          <a:prstGeom prst="rect">
            <a:avLst/>
          </a:prstGeom>
        </p:spPr>
      </p:pic>
      <p:sp>
        <p:nvSpPr>
          <p:cNvPr id="22" name="Text 16"/>
          <p:cNvSpPr/>
          <p:nvPr/>
        </p:nvSpPr>
        <p:spPr>
          <a:xfrm>
            <a:off x="9262872" y="2493654"/>
            <a:ext cx="2313432" cy="907914"/>
          </a:xfrm>
          <a:prstGeom prst="rect">
            <a:avLst/>
          </a:prstGeom>
          <a:noFill/>
          <a:ln/>
        </p:spPr>
        <p:txBody>
          <a:bodyPr wrap="square" rtlCol="0" anchor="ctr"/>
          <a:lstStyle/>
          <a:p>
            <a:pPr algn="just">
              <a:lnSpc>
                <a:spcPct val="105000"/>
              </a:lnSpc>
            </a:pPr>
            <a:r>
              <a:rPr lang="en-GB" sz="1400" b="1" dirty="0"/>
              <a:t>Maps and heatmaps to identify traffic congestion, bottlenecks, and busy travel routes</a:t>
            </a:r>
            <a:endParaRPr lang="en-US" sz="1250" b="1" dirty="0"/>
          </a:p>
        </p:txBody>
      </p:sp>
      <p:sp>
        <p:nvSpPr>
          <p:cNvPr id="23" name="Text 17"/>
          <p:cNvSpPr/>
          <p:nvPr/>
        </p:nvSpPr>
        <p:spPr>
          <a:xfrm>
            <a:off x="9262872" y="2834640"/>
            <a:ext cx="2313432" cy="868680"/>
          </a:xfrm>
          <a:prstGeom prst="rect">
            <a:avLst/>
          </a:prstGeom>
          <a:noFill/>
          <a:ln/>
        </p:spPr>
        <p:txBody>
          <a:bodyPr wrap="square" rtlCol="0" anchor="ctr"/>
          <a:lstStyle/>
          <a:p>
            <a:pPr marL="0" indent="0">
              <a:lnSpc>
                <a:spcPct val="120000"/>
              </a:lnSpc>
              <a:buNone/>
            </a:pPr>
            <a:endParaRPr lang="en-US" sz="1050" dirty="0"/>
          </a:p>
        </p:txBody>
      </p:sp>
      <p:sp>
        <p:nvSpPr>
          <p:cNvPr id="24" name="Shape 18"/>
          <p:cNvSpPr/>
          <p:nvPr/>
        </p:nvSpPr>
        <p:spPr>
          <a:xfrm>
            <a:off x="548640" y="3995928"/>
            <a:ext cx="2679192" cy="2331720"/>
          </a:xfrm>
          <a:prstGeom prst="roundRect">
            <a:avLst>
              <a:gd name="adj" fmla="val 3137"/>
            </a:avLst>
          </a:prstGeom>
          <a:solidFill>
            <a:srgbClr val="F4F8FB"/>
          </a:solidFill>
          <a:ln/>
          <a:effectLst>
            <a:outerShdw blurRad="76200" dist="25400" dir="5400000" algn="bl" rotWithShape="0">
              <a:srgbClr val="8CA9BF">
                <a:alpha val="25000"/>
              </a:srgbClr>
            </a:outerShdw>
          </a:effectLst>
        </p:spPr>
      </p:sp>
      <p:sp>
        <p:nvSpPr>
          <p:cNvPr id="25" name="Shape 19"/>
          <p:cNvSpPr/>
          <p:nvPr/>
        </p:nvSpPr>
        <p:spPr>
          <a:xfrm>
            <a:off x="749808" y="4197096"/>
            <a:ext cx="566928" cy="566928"/>
          </a:xfrm>
          <a:prstGeom prst="ellipse">
            <a:avLst/>
          </a:prstGeom>
          <a:solidFill>
            <a:srgbClr val="2C74B3"/>
          </a:solidFill>
          <a:ln/>
        </p:spPr>
      </p:sp>
      <p:pic>
        <p:nvPicPr>
          <p:cNvPr id="26" name="Image 4" descr="icons/gauge.png"/>
          <p:cNvPicPr>
            <a:picLocks noChangeAspect="1"/>
          </p:cNvPicPr>
          <p:nvPr/>
        </p:nvPicPr>
        <p:blipFill>
          <a:blip r:embed="rId7"/>
          <a:stretch>
            <a:fillRect/>
          </a:stretch>
        </p:blipFill>
        <p:spPr>
          <a:xfrm>
            <a:off x="877367" y="4324655"/>
            <a:ext cx="311810" cy="311810"/>
          </a:xfrm>
          <a:prstGeom prst="rect">
            <a:avLst/>
          </a:prstGeom>
        </p:spPr>
      </p:pic>
      <p:sp>
        <p:nvSpPr>
          <p:cNvPr id="27" name="Text 20"/>
          <p:cNvSpPr/>
          <p:nvPr/>
        </p:nvSpPr>
        <p:spPr>
          <a:xfrm>
            <a:off x="731520" y="4892039"/>
            <a:ext cx="2313432" cy="1116025"/>
          </a:xfrm>
          <a:prstGeom prst="rect">
            <a:avLst/>
          </a:prstGeom>
          <a:noFill/>
          <a:ln/>
        </p:spPr>
        <p:txBody>
          <a:bodyPr wrap="square" rtlCol="0" anchor="ctr"/>
          <a:lstStyle/>
          <a:p>
            <a:pPr algn="just">
              <a:lnSpc>
                <a:spcPct val="105000"/>
              </a:lnSpc>
            </a:pPr>
            <a:r>
              <a:rPr lang="en-GB" sz="1400" b="1" dirty="0"/>
              <a:t>Mobility Index and City Mobility Health Score to measure transportation efficiency and accessibility.</a:t>
            </a:r>
            <a:endParaRPr lang="en-US" sz="1250" b="1" dirty="0"/>
          </a:p>
        </p:txBody>
      </p:sp>
      <p:sp>
        <p:nvSpPr>
          <p:cNvPr id="28" name="Text 21"/>
          <p:cNvSpPr/>
          <p:nvPr/>
        </p:nvSpPr>
        <p:spPr>
          <a:xfrm>
            <a:off x="731520" y="5367528"/>
            <a:ext cx="2313432" cy="868680"/>
          </a:xfrm>
          <a:prstGeom prst="rect">
            <a:avLst/>
          </a:prstGeom>
          <a:noFill/>
          <a:ln/>
        </p:spPr>
        <p:txBody>
          <a:bodyPr wrap="square" rtlCol="0" anchor="ctr"/>
          <a:lstStyle/>
          <a:p>
            <a:pPr marL="0" indent="0">
              <a:lnSpc>
                <a:spcPct val="120000"/>
              </a:lnSpc>
              <a:buNone/>
            </a:pPr>
            <a:endParaRPr lang="en-US" sz="1050" dirty="0"/>
          </a:p>
        </p:txBody>
      </p:sp>
      <p:sp>
        <p:nvSpPr>
          <p:cNvPr id="29" name="Shape 22"/>
          <p:cNvSpPr/>
          <p:nvPr/>
        </p:nvSpPr>
        <p:spPr>
          <a:xfrm>
            <a:off x="3392424" y="3995928"/>
            <a:ext cx="2679192" cy="2331720"/>
          </a:xfrm>
          <a:prstGeom prst="roundRect">
            <a:avLst>
              <a:gd name="adj" fmla="val 3137"/>
            </a:avLst>
          </a:prstGeom>
          <a:solidFill>
            <a:srgbClr val="F4F8FB"/>
          </a:solidFill>
          <a:ln/>
          <a:effectLst>
            <a:outerShdw blurRad="76200" dist="25400" dir="5400000" algn="bl" rotWithShape="0">
              <a:srgbClr val="8CA9BF">
                <a:alpha val="25000"/>
              </a:srgbClr>
            </a:outerShdw>
          </a:effectLst>
        </p:spPr>
        <p:txBody>
          <a:bodyPr/>
          <a:lstStyle/>
          <a:p>
            <a:endParaRPr lang="en-IN" dirty="0"/>
          </a:p>
        </p:txBody>
      </p:sp>
      <p:sp>
        <p:nvSpPr>
          <p:cNvPr id="30" name="Shape 23"/>
          <p:cNvSpPr/>
          <p:nvPr/>
        </p:nvSpPr>
        <p:spPr>
          <a:xfrm>
            <a:off x="3593592" y="4197096"/>
            <a:ext cx="566928" cy="566928"/>
          </a:xfrm>
          <a:prstGeom prst="ellipse">
            <a:avLst/>
          </a:prstGeom>
          <a:solidFill>
            <a:srgbClr val="FF6B35"/>
          </a:solidFill>
          <a:ln/>
        </p:spPr>
      </p:sp>
      <p:pic>
        <p:nvPicPr>
          <p:cNvPr id="31" name="Image 5" descr="icons/brain.png"/>
          <p:cNvPicPr>
            <a:picLocks noChangeAspect="1"/>
          </p:cNvPicPr>
          <p:nvPr/>
        </p:nvPicPr>
        <p:blipFill>
          <a:blip r:embed="rId8"/>
          <a:stretch>
            <a:fillRect/>
          </a:stretch>
        </p:blipFill>
        <p:spPr>
          <a:xfrm>
            <a:off x="3721151" y="4324655"/>
            <a:ext cx="311810" cy="311810"/>
          </a:xfrm>
          <a:prstGeom prst="rect">
            <a:avLst/>
          </a:prstGeom>
        </p:spPr>
      </p:pic>
      <p:sp>
        <p:nvSpPr>
          <p:cNvPr id="32" name="Text 24"/>
          <p:cNvSpPr/>
          <p:nvPr/>
        </p:nvSpPr>
        <p:spPr>
          <a:xfrm>
            <a:off x="3575304" y="4892040"/>
            <a:ext cx="2313432" cy="1116024"/>
          </a:xfrm>
          <a:prstGeom prst="rect">
            <a:avLst/>
          </a:prstGeom>
          <a:noFill/>
          <a:ln/>
        </p:spPr>
        <p:txBody>
          <a:bodyPr wrap="square" rtlCol="0" anchor="ctr"/>
          <a:lstStyle/>
          <a:p>
            <a:pPr algn="just">
              <a:lnSpc>
                <a:spcPct val="105000"/>
              </a:lnSpc>
            </a:pPr>
            <a:r>
              <a:rPr lang="en-GB" sz="1400" b="1" dirty="0"/>
              <a:t>Forecasting and anomaly detection to predict traffic conditions and identify issues before they become major problems.</a:t>
            </a:r>
            <a:endParaRPr lang="en-US" sz="1250" b="1" dirty="0"/>
          </a:p>
        </p:txBody>
      </p:sp>
      <p:sp>
        <p:nvSpPr>
          <p:cNvPr id="33" name="Text 25"/>
          <p:cNvSpPr/>
          <p:nvPr/>
        </p:nvSpPr>
        <p:spPr>
          <a:xfrm>
            <a:off x="3575304" y="5367528"/>
            <a:ext cx="2313432" cy="868680"/>
          </a:xfrm>
          <a:prstGeom prst="rect">
            <a:avLst/>
          </a:prstGeom>
          <a:noFill/>
          <a:ln/>
        </p:spPr>
        <p:txBody>
          <a:bodyPr wrap="square" rtlCol="0" anchor="ctr"/>
          <a:lstStyle/>
          <a:p>
            <a:pPr marL="0" indent="0">
              <a:lnSpc>
                <a:spcPct val="120000"/>
              </a:lnSpc>
              <a:buNone/>
            </a:pPr>
            <a:endParaRPr lang="en-US" sz="1050" dirty="0"/>
          </a:p>
        </p:txBody>
      </p:sp>
      <p:sp>
        <p:nvSpPr>
          <p:cNvPr id="34" name="Shape 26"/>
          <p:cNvSpPr/>
          <p:nvPr/>
        </p:nvSpPr>
        <p:spPr>
          <a:xfrm>
            <a:off x="6236208" y="3995928"/>
            <a:ext cx="2679192" cy="2331720"/>
          </a:xfrm>
          <a:prstGeom prst="roundRect">
            <a:avLst>
              <a:gd name="adj" fmla="val 3137"/>
            </a:avLst>
          </a:prstGeom>
          <a:solidFill>
            <a:srgbClr val="F4F8FB"/>
          </a:solidFill>
          <a:ln/>
          <a:effectLst>
            <a:outerShdw blurRad="76200" dist="25400" dir="5400000" algn="bl" rotWithShape="0">
              <a:srgbClr val="8CA9BF">
                <a:alpha val="25000"/>
              </a:srgbClr>
            </a:outerShdw>
          </a:effectLst>
        </p:spPr>
      </p:sp>
      <p:sp>
        <p:nvSpPr>
          <p:cNvPr id="35" name="Shape 27"/>
          <p:cNvSpPr/>
          <p:nvPr/>
        </p:nvSpPr>
        <p:spPr>
          <a:xfrm>
            <a:off x="6437376" y="4197096"/>
            <a:ext cx="566928" cy="566928"/>
          </a:xfrm>
          <a:prstGeom prst="ellipse">
            <a:avLst/>
          </a:prstGeom>
          <a:solidFill>
            <a:srgbClr val="2C74B3"/>
          </a:solidFill>
          <a:ln/>
        </p:spPr>
      </p:sp>
      <p:pic>
        <p:nvPicPr>
          <p:cNvPr id="36" name="Image 6" descr="icons/users.png"/>
          <p:cNvPicPr>
            <a:picLocks noChangeAspect="1"/>
          </p:cNvPicPr>
          <p:nvPr/>
        </p:nvPicPr>
        <p:blipFill>
          <a:blip r:embed="rId9"/>
          <a:stretch>
            <a:fillRect/>
          </a:stretch>
        </p:blipFill>
        <p:spPr>
          <a:xfrm>
            <a:off x="6564935" y="4324655"/>
            <a:ext cx="311810" cy="311810"/>
          </a:xfrm>
          <a:prstGeom prst="rect">
            <a:avLst/>
          </a:prstGeom>
        </p:spPr>
      </p:pic>
      <p:sp>
        <p:nvSpPr>
          <p:cNvPr id="37" name="Text 28"/>
          <p:cNvSpPr/>
          <p:nvPr/>
        </p:nvSpPr>
        <p:spPr>
          <a:xfrm>
            <a:off x="6419088" y="4892040"/>
            <a:ext cx="2313432" cy="1243584"/>
          </a:xfrm>
          <a:prstGeom prst="rect">
            <a:avLst/>
          </a:prstGeom>
          <a:noFill/>
          <a:ln/>
        </p:spPr>
        <p:txBody>
          <a:bodyPr wrap="square" rtlCol="0" anchor="ctr"/>
          <a:lstStyle/>
          <a:p>
            <a:pPr algn="just">
              <a:lnSpc>
                <a:spcPct val="105000"/>
              </a:lnSpc>
            </a:pPr>
            <a:r>
              <a:rPr lang="en-GB" sz="1400" b="1" dirty="0"/>
              <a:t>Role-based dashboards for city planners, transport operators, and government officials to support faster and smarter decision-making.</a:t>
            </a:r>
            <a:endParaRPr lang="en-US" sz="1250" b="1" dirty="0"/>
          </a:p>
        </p:txBody>
      </p:sp>
      <p:sp>
        <p:nvSpPr>
          <p:cNvPr id="38" name="Text 29"/>
          <p:cNvSpPr/>
          <p:nvPr/>
        </p:nvSpPr>
        <p:spPr>
          <a:xfrm>
            <a:off x="6419088" y="5367528"/>
            <a:ext cx="2313432" cy="868680"/>
          </a:xfrm>
          <a:prstGeom prst="rect">
            <a:avLst/>
          </a:prstGeom>
          <a:noFill/>
          <a:ln/>
        </p:spPr>
        <p:txBody>
          <a:bodyPr wrap="square" rtlCol="0" anchor="ctr"/>
          <a:lstStyle/>
          <a:p>
            <a:pPr marL="0" indent="0">
              <a:lnSpc>
                <a:spcPct val="120000"/>
              </a:lnSpc>
              <a:buNone/>
            </a:pPr>
            <a:endParaRPr lang="en-US" sz="1050" dirty="0"/>
          </a:p>
        </p:txBody>
      </p:sp>
      <p:sp>
        <p:nvSpPr>
          <p:cNvPr id="39" name="Shape 30"/>
          <p:cNvSpPr/>
          <p:nvPr/>
        </p:nvSpPr>
        <p:spPr>
          <a:xfrm>
            <a:off x="9079992" y="3995928"/>
            <a:ext cx="2679192" cy="2331720"/>
          </a:xfrm>
          <a:prstGeom prst="roundRect">
            <a:avLst>
              <a:gd name="adj" fmla="val 3137"/>
            </a:avLst>
          </a:prstGeom>
          <a:solidFill>
            <a:srgbClr val="0A2647"/>
          </a:solidFill>
          <a:ln/>
        </p:spPr>
      </p:sp>
      <p:sp>
        <p:nvSpPr>
          <p:cNvPr id="40" name="Text 31"/>
          <p:cNvSpPr/>
          <p:nvPr/>
        </p:nvSpPr>
        <p:spPr>
          <a:xfrm>
            <a:off x="9079992" y="4315968"/>
            <a:ext cx="2679192" cy="914400"/>
          </a:xfrm>
          <a:prstGeom prst="rect">
            <a:avLst/>
          </a:prstGeom>
          <a:noFill/>
          <a:ln/>
        </p:spPr>
        <p:txBody>
          <a:bodyPr wrap="square" rtlCol="0" anchor="ctr"/>
          <a:lstStyle/>
          <a:p>
            <a:pPr marL="0" indent="0" algn="ctr">
              <a:buNone/>
            </a:pPr>
            <a:r>
              <a:rPr lang="en-US" sz="4600" b="1" dirty="0">
                <a:solidFill>
                  <a:srgbClr val="FF6B35"/>
                </a:solidFill>
                <a:latin typeface="Cambria" pitchFamily="34" charset="0"/>
                <a:ea typeface="Cambria" pitchFamily="34" charset="-122"/>
                <a:cs typeface="Cambria" pitchFamily="34" charset="-120"/>
              </a:rPr>
              <a:t>7</a:t>
            </a:r>
            <a:endParaRPr lang="en-US" sz="4600" dirty="0"/>
          </a:p>
        </p:txBody>
      </p:sp>
      <p:sp>
        <p:nvSpPr>
          <p:cNvPr id="41" name="Text 32"/>
          <p:cNvSpPr/>
          <p:nvPr/>
        </p:nvSpPr>
        <p:spPr>
          <a:xfrm>
            <a:off x="9262872" y="5413248"/>
            <a:ext cx="2313432" cy="822960"/>
          </a:xfrm>
          <a:prstGeom prst="rect">
            <a:avLst/>
          </a:prstGeom>
          <a:noFill/>
          <a:ln/>
        </p:spPr>
        <p:txBody>
          <a:bodyPr wrap="square" rtlCol="0" anchor="ctr"/>
          <a:lstStyle/>
          <a:p>
            <a:pPr marL="0" indent="0" algn="ctr">
              <a:lnSpc>
                <a:spcPct val="130000"/>
              </a:lnSpc>
              <a:buNone/>
            </a:pPr>
            <a:r>
              <a:rPr lang="en-US" sz="1100" b="1" kern="0" spc="100" dirty="0">
                <a:solidFill>
                  <a:srgbClr val="FFFFFF"/>
                </a:solidFill>
                <a:latin typeface="Calibri" pitchFamily="34" charset="0"/>
                <a:ea typeface="Calibri" pitchFamily="34" charset="-122"/>
                <a:cs typeface="Calibri" pitchFamily="34" charset="-120"/>
              </a:rPr>
              <a:t>CORE OUTCOME AREAS</a:t>
            </a:r>
            <a:endParaRPr lang="en-US" sz="1100" dirty="0"/>
          </a:p>
          <a:p>
            <a:pPr marL="0" indent="0" algn="ctr">
              <a:lnSpc>
                <a:spcPct val="130000"/>
              </a:lnSpc>
              <a:buNone/>
            </a:pPr>
            <a:r>
              <a:rPr lang="en-US" sz="1100" b="1" kern="0" spc="100" dirty="0">
                <a:solidFill>
                  <a:srgbClr val="FFFFFF"/>
                </a:solidFill>
                <a:latin typeface="Calibri" pitchFamily="34" charset="0"/>
                <a:ea typeface="Calibri" pitchFamily="34" charset="-122"/>
                <a:cs typeface="Calibri" pitchFamily="34" charset="-120"/>
              </a:rPr>
              <a:t>DELIVERED END-TO-END</a:t>
            </a:r>
            <a:endParaRPr lang="en-US" sz="1100" dirty="0"/>
          </a:p>
        </p:txBody>
      </p:sp>
      <p:sp>
        <p:nvSpPr>
          <p:cNvPr id="42" name="Text 33"/>
          <p:cNvSpPr/>
          <p:nvPr/>
        </p:nvSpPr>
        <p:spPr>
          <a:xfrm>
            <a:off x="457200" y="6400800"/>
            <a:ext cx="2743200" cy="274320"/>
          </a:xfrm>
          <a:prstGeom prst="rect">
            <a:avLst/>
          </a:prstGeom>
          <a:noFill/>
          <a:ln/>
        </p:spPr>
        <p:txBody>
          <a:bodyPr wrap="square" rtlCol="0" anchor="ctr"/>
          <a:lstStyle/>
          <a:p>
            <a:pPr marL="0" indent="0">
              <a:buNone/>
            </a:pPr>
            <a:r>
              <a:rPr lang="en-US" sz="1000" kern="0" spc="200" dirty="0">
                <a:solidFill>
                  <a:srgbClr val="5B6B79"/>
                </a:solidFill>
                <a:latin typeface="Calibri" pitchFamily="34" charset="0"/>
                <a:ea typeface="Calibri" pitchFamily="34" charset="-122"/>
                <a:cs typeface="Calibri" pitchFamily="34" charset="-120"/>
              </a:rPr>
              <a:t>URBAN PULSE</a:t>
            </a:r>
            <a:endParaRPr lang="en-US" sz="1000" dirty="0"/>
          </a:p>
        </p:txBody>
      </p:sp>
      <p:sp>
        <p:nvSpPr>
          <p:cNvPr id="43" name="Text 34"/>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E47AD3D-B258-A682-A98C-D30D1473CC32}"/>
              </a:ext>
            </a:extLst>
          </p:cNvPr>
          <p:cNvSpPr txBox="1"/>
          <p:nvPr/>
        </p:nvSpPr>
        <p:spPr>
          <a:xfrm>
            <a:off x="552893" y="350874"/>
            <a:ext cx="7198242" cy="646331"/>
          </a:xfrm>
          <a:prstGeom prst="rect">
            <a:avLst/>
          </a:prstGeom>
          <a:noFill/>
        </p:spPr>
        <p:txBody>
          <a:bodyPr wrap="square" rtlCol="0">
            <a:spAutoFit/>
          </a:bodyPr>
          <a:lstStyle/>
          <a:p>
            <a:r>
              <a:rPr lang="en-US" sz="3600" b="1" dirty="0">
                <a:solidFill>
                  <a:srgbClr val="0A2647"/>
                </a:solidFill>
                <a:latin typeface="Arial" pitchFamily="34" charset="0"/>
                <a:ea typeface="Arial" pitchFamily="34" charset="-122"/>
                <a:cs typeface="Arial" pitchFamily="34" charset="-120"/>
              </a:rPr>
              <a:t>Workflow and Data Integration</a:t>
            </a:r>
            <a:endParaRPr lang="en-IN" sz="3600" dirty="0"/>
          </a:p>
        </p:txBody>
      </p:sp>
      <p:pic>
        <p:nvPicPr>
          <p:cNvPr id="28" name="Picture 27">
            <a:extLst>
              <a:ext uri="{FF2B5EF4-FFF2-40B4-BE49-F238E27FC236}">
                <a16:creationId xmlns:a16="http://schemas.microsoft.com/office/drawing/2014/main" id="{5D0B9C68-A994-4615-1AC6-877F4148E2CB}"/>
              </a:ext>
            </a:extLst>
          </p:cNvPr>
          <p:cNvPicPr>
            <a:picLocks noChangeAspect="1"/>
          </p:cNvPicPr>
          <p:nvPr/>
        </p:nvPicPr>
        <p:blipFill>
          <a:blip r:embed="rId3"/>
          <a:stretch>
            <a:fillRect/>
          </a:stretch>
        </p:blipFill>
        <p:spPr>
          <a:xfrm>
            <a:off x="4965403" y="4524030"/>
            <a:ext cx="6492948" cy="2052084"/>
          </a:xfrm>
          <a:prstGeom prst="rect">
            <a:avLst/>
          </a:prstGeom>
        </p:spPr>
      </p:pic>
      <p:pic>
        <p:nvPicPr>
          <p:cNvPr id="30" name="Picture 29">
            <a:extLst>
              <a:ext uri="{FF2B5EF4-FFF2-40B4-BE49-F238E27FC236}">
                <a16:creationId xmlns:a16="http://schemas.microsoft.com/office/drawing/2014/main" id="{39D673B4-3F3D-54B0-6A17-62579B8B9FC8}"/>
              </a:ext>
            </a:extLst>
          </p:cNvPr>
          <p:cNvPicPr>
            <a:picLocks noChangeAspect="1"/>
          </p:cNvPicPr>
          <p:nvPr/>
        </p:nvPicPr>
        <p:blipFill>
          <a:blip r:embed="rId4"/>
          <a:srcRect t="1" b="21766"/>
          <a:stretch>
            <a:fillRect/>
          </a:stretch>
        </p:blipFill>
        <p:spPr>
          <a:xfrm>
            <a:off x="340240" y="1307928"/>
            <a:ext cx="4518837" cy="5060974"/>
          </a:xfrm>
          <a:prstGeom prst="rect">
            <a:avLst/>
          </a:prstGeom>
        </p:spPr>
      </p:pic>
      <p:pic>
        <p:nvPicPr>
          <p:cNvPr id="32" name="Picture 31">
            <a:extLst>
              <a:ext uri="{FF2B5EF4-FFF2-40B4-BE49-F238E27FC236}">
                <a16:creationId xmlns:a16="http://schemas.microsoft.com/office/drawing/2014/main" id="{F143BE6B-7E59-5276-EB8A-7D3805D1958F}"/>
              </a:ext>
            </a:extLst>
          </p:cNvPr>
          <p:cNvPicPr>
            <a:picLocks noChangeAspect="1"/>
          </p:cNvPicPr>
          <p:nvPr/>
        </p:nvPicPr>
        <p:blipFill>
          <a:blip r:embed="rId5"/>
          <a:stretch>
            <a:fillRect/>
          </a:stretch>
        </p:blipFill>
        <p:spPr>
          <a:xfrm>
            <a:off x="4859077" y="1307928"/>
            <a:ext cx="7035209" cy="30051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912DD1D-276B-7788-B2C2-4152F3DEA942}"/>
              </a:ext>
            </a:extLst>
          </p:cNvPr>
          <p:cNvSpPr txBox="1"/>
          <p:nvPr/>
        </p:nvSpPr>
        <p:spPr>
          <a:xfrm>
            <a:off x="255181" y="393405"/>
            <a:ext cx="6517759" cy="523220"/>
          </a:xfrm>
          <a:prstGeom prst="rect">
            <a:avLst/>
          </a:prstGeom>
          <a:noFill/>
        </p:spPr>
        <p:txBody>
          <a:bodyPr wrap="square" rtlCol="0">
            <a:spAutoFit/>
          </a:bodyPr>
          <a:lstStyle/>
          <a:p>
            <a:r>
              <a:rPr lang="en-US" sz="2800" b="1" dirty="0">
                <a:solidFill>
                  <a:srgbClr val="002060"/>
                </a:solidFill>
                <a:latin typeface="Arial" pitchFamily="34" charset="0"/>
                <a:ea typeface="Arial" pitchFamily="34" charset="-122"/>
                <a:cs typeface="Arial" pitchFamily="34" charset="-120"/>
              </a:rPr>
              <a:t>Urban Pulse — Power BI Dashboard </a:t>
            </a:r>
            <a:endParaRPr lang="en-US" sz="2800" dirty="0">
              <a:solidFill>
                <a:srgbClr val="002060"/>
              </a:solidFill>
            </a:endParaRPr>
          </a:p>
        </p:txBody>
      </p:sp>
      <p:pic>
        <p:nvPicPr>
          <p:cNvPr id="25" name="Picture 24">
            <a:extLst>
              <a:ext uri="{FF2B5EF4-FFF2-40B4-BE49-F238E27FC236}">
                <a16:creationId xmlns:a16="http://schemas.microsoft.com/office/drawing/2014/main" id="{501D0A7D-97CA-02CD-F60C-E7574CA27006}"/>
              </a:ext>
            </a:extLst>
          </p:cNvPr>
          <p:cNvPicPr>
            <a:picLocks noChangeAspect="1"/>
          </p:cNvPicPr>
          <p:nvPr/>
        </p:nvPicPr>
        <p:blipFill>
          <a:blip r:embed="rId3"/>
          <a:stretch>
            <a:fillRect/>
          </a:stretch>
        </p:blipFill>
        <p:spPr>
          <a:xfrm>
            <a:off x="255181" y="916626"/>
            <a:ext cx="11704208" cy="56405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647"/>
        </a:solidFill>
        <a:effectLst/>
      </p:bgPr>
    </p:bg>
    <p:spTree>
      <p:nvGrpSpPr>
        <p:cNvPr id="1" name=""/>
        <p:cNvGrpSpPr/>
        <p:nvPr/>
      </p:nvGrpSpPr>
      <p:grpSpPr>
        <a:xfrm>
          <a:off x="0" y="0"/>
          <a:ext cx="0" cy="0"/>
          <a:chOff x="0" y="0"/>
          <a:chExt cx="0" cy="0"/>
        </a:xfrm>
      </p:grpSpPr>
      <p:pic>
        <p:nvPicPr>
          <p:cNvPr id="40" name="Picture 39">
            <a:extLst>
              <a:ext uri="{FF2B5EF4-FFF2-40B4-BE49-F238E27FC236}">
                <a16:creationId xmlns:a16="http://schemas.microsoft.com/office/drawing/2014/main" id="{EFF4BDCD-1E01-842F-FE6D-CCF97261E8C0}"/>
              </a:ext>
            </a:extLst>
          </p:cNvPr>
          <p:cNvPicPr>
            <a:picLocks noChangeAspect="1"/>
          </p:cNvPicPr>
          <p:nvPr/>
        </p:nvPicPr>
        <p:blipFill>
          <a:blip r:embed="rId3"/>
          <a:stretch>
            <a:fillRect/>
          </a:stretch>
        </p:blipFill>
        <p:spPr>
          <a:xfrm>
            <a:off x="932742" y="1318398"/>
            <a:ext cx="4074487" cy="5023024"/>
          </a:xfrm>
          <a:prstGeom prst="rect">
            <a:avLst/>
          </a:prstGeom>
        </p:spPr>
      </p:pic>
      <p:pic>
        <p:nvPicPr>
          <p:cNvPr id="42" name="Picture 41">
            <a:extLst>
              <a:ext uri="{FF2B5EF4-FFF2-40B4-BE49-F238E27FC236}">
                <a16:creationId xmlns:a16="http://schemas.microsoft.com/office/drawing/2014/main" id="{0EDDA56A-207C-D31D-EFC1-959D41EA2B7F}"/>
              </a:ext>
            </a:extLst>
          </p:cNvPr>
          <p:cNvPicPr>
            <a:picLocks noChangeAspect="1"/>
          </p:cNvPicPr>
          <p:nvPr/>
        </p:nvPicPr>
        <p:blipFill>
          <a:blip r:embed="rId4"/>
          <a:stretch>
            <a:fillRect/>
          </a:stretch>
        </p:blipFill>
        <p:spPr>
          <a:xfrm>
            <a:off x="5605153" y="1318398"/>
            <a:ext cx="5866409" cy="5023024"/>
          </a:xfrm>
          <a:prstGeom prst="rect">
            <a:avLst/>
          </a:prstGeom>
        </p:spPr>
      </p:pic>
      <p:sp>
        <p:nvSpPr>
          <p:cNvPr id="43" name="TextBox 42">
            <a:extLst>
              <a:ext uri="{FF2B5EF4-FFF2-40B4-BE49-F238E27FC236}">
                <a16:creationId xmlns:a16="http://schemas.microsoft.com/office/drawing/2014/main" id="{D8BCEA59-CA78-270E-FB0E-3A1A4BFF155E}"/>
              </a:ext>
            </a:extLst>
          </p:cNvPr>
          <p:cNvSpPr txBox="1"/>
          <p:nvPr/>
        </p:nvSpPr>
        <p:spPr>
          <a:xfrm>
            <a:off x="932741" y="201881"/>
            <a:ext cx="9330195" cy="1354217"/>
          </a:xfrm>
          <a:prstGeom prst="rect">
            <a:avLst/>
          </a:prstGeom>
          <a:noFill/>
        </p:spPr>
        <p:txBody>
          <a:bodyPr wrap="square" rtlCol="0">
            <a:spAutoFit/>
          </a:bodyPr>
          <a:lstStyle/>
          <a:p>
            <a:r>
              <a:rPr lang="en-US" sz="3200" b="1" dirty="0">
                <a:solidFill>
                  <a:schemeClr val="bg1"/>
                </a:solidFill>
              </a:rPr>
              <a:t>Urban Pulse — </a:t>
            </a:r>
            <a:r>
              <a:rPr lang="en-US" sz="3200" b="1" dirty="0">
                <a:solidFill>
                  <a:schemeClr val="bg1"/>
                </a:solidFill>
                <a:latin typeface="Cambria" pitchFamily="34" charset="0"/>
                <a:ea typeface="Cambria" pitchFamily="34" charset="-122"/>
                <a:cs typeface="Cambria" pitchFamily="34" charset="-120"/>
              </a:rPr>
              <a:t>Database Schema</a:t>
            </a:r>
            <a:endParaRPr lang="en-US" sz="3200" dirty="0">
              <a:solidFill>
                <a:schemeClr val="bg1"/>
              </a:solidFill>
            </a:endParaRPr>
          </a:p>
          <a:p>
            <a:endParaRPr lang="en-IN" sz="3200" dirty="0">
              <a:solidFill>
                <a:schemeClr val="bg1"/>
              </a:solidFill>
            </a:endParaRP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54" name="Picture 53">
            <a:extLst>
              <a:ext uri="{FF2B5EF4-FFF2-40B4-BE49-F238E27FC236}">
                <a16:creationId xmlns:a16="http://schemas.microsoft.com/office/drawing/2014/main" id="{BC9AB32A-323A-28CA-6A9B-D1425E1880C2}"/>
              </a:ext>
            </a:extLst>
          </p:cNvPr>
          <p:cNvPicPr>
            <a:picLocks noChangeAspect="1"/>
          </p:cNvPicPr>
          <p:nvPr/>
        </p:nvPicPr>
        <p:blipFill>
          <a:blip r:embed="rId3"/>
          <a:stretch>
            <a:fillRect/>
          </a:stretch>
        </p:blipFill>
        <p:spPr>
          <a:xfrm>
            <a:off x="0" y="300789"/>
            <a:ext cx="12192000" cy="62925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r>
              <a:rPr lang="en-IN" sz="3200" b="1" dirty="0"/>
              <a:t>Integration &amp; Data </a:t>
            </a:r>
            <a:r>
              <a:rPr lang="en-IN" sz="3200" b="1" dirty="0" err="1"/>
              <a:t>Modeling</a:t>
            </a:r>
            <a:r>
              <a:rPr lang="en-IN" sz="3200" b="1" dirty="0"/>
              <a:t> Approach</a:t>
            </a:r>
            <a:endParaRPr lang="en-US" sz="3000" b="1" dirty="0"/>
          </a:p>
        </p:txBody>
      </p:sp>
      <p:sp>
        <p:nvSpPr>
          <p:cNvPr id="3" name="Text 1"/>
          <p:cNvSpPr/>
          <p:nvPr/>
        </p:nvSpPr>
        <p:spPr>
          <a:xfrm>
            <a:off x="566928" y="960120"/>
            <a:ext cx="8229600" cy="320040"/>
          </a:xfrm>
          <a:prstGeom prst="rect">
            <a:avLst/>
          </a:prstGeom>
          <a:noFill/>
          <a:ln/>
        </p:spPr>
        <p:txBody>
          <a:bodyPr wrap="square" rtlCol="0" anchor="ctr"/>
          <a:lstStyle/>
          <a:p>
            <a:pPr marL="0" indent="0">
              <a:buNone/>
            </a:pPr>
            <a:r>
              <a:rPr lang="en-US" sz="1300" dirty="0">
                <a:solidFill>
                  <a:srgbClr val="5B6B79"/>
                </a:solidFill>
                <a:latin typeface="Calibri" pitchFamily="34" charset="0"/>
                <a:ea typeface="Calibri" pitchFamily="34" charset="-122"/>
                <a:cs typeface="Calibri" pitchFamily="34" charset="-120"/>
              </a:rPr>
              <a:t>From raw data sources to stakeholder decisions</a:t>
            </a:r>
            <a:endParaRPr lang="en-US" sz="1300" dirty="0"/>
          </a:p>
        </p:txBody>
      </p:sp>
      <p:sp>
        <p:nvSpPr>
          <p:cNvPr id="4" name="Shape 2"/>
          <p:cNvSpPr/>
          <p:nvPr/>
        </p:nvSpPr>
        <p:spPr>
          <a:xfrm>
            <a:off x="548640" y="1463040"/>
            <a:ext cx="1729740" cy="4114800"/>
          </a:xfrm>
          <a:prstGeom prst="roundRect">
            <a:avLst>
              <a:gd name="adj" fmla="val 3700"/>
            </a:avLst>
          </a:prstGeom>
          <a:solidFill>
            <a:srgbClr val="2C74B3"/>
          </a:solidFill>
          <a:ln/>
        </p:spPr>
      </p:sp>
      <p:sp>
        <p:nvSpPr>
          <p:cNvPr id="5" name="Text 3"/>
          <p:cNvSpPr/>
          <p:nvPr/>
        </p:nvSpPr>
        <p:spPr>
          <a:xfrm>
            <a:off x="640080" y="1554480"/>
            <a:ext cx="365760" cy="320040"/>
          </a:xfrm>
          <a:prstGeom prst="rect">
            <a:avLst/>
          </a:prstGeom>
          <a:noFill/>
          <a:ln/>
        </p:spPr>
        <p:txBody>
          <a:bodyPr wrap="square" rtlCol="0" anchor="ctr"/>
          <a:lstStyle/>
          <a:p>
            <a:pPr marL="0" indent="0">
              <a:buNone/>
            </a:pPr>
            <a:r>
              <a:rPr lang="en-US" sz="1200" b="1" dirty="0">
                <a:solidFill>
                  <a:srgbClr val="FF6B35"/>
                </a:solidFill>
                <a:latin typeface="Calibri" pitchFamily="34" charset="0"/>
                <a:ea typeface="Calibri" pitchFamily="34" charset="-122"/>
                <a:cs typeface="Calibri" pitchFamily="34" charset="-120"/>
              </a:rPr>
              <a:t>1</a:t>
            </a:r>
            <a:endParaRPr lang="en-US" sz="1200" dirty="0"/>
          </a:p>
        </p:txBody>
      </p:sp>
      <p:sp>
        <p:nvSpPr>
          <p:cNvPr id="6" name="Shape 4"/>
          <p:cNvSpPr/>
          <p:nvPr/>
        </p:nvSpPr>
        <p:spPr>
          <a:xfrm>
            <a:off x="1162050" y="1847088"/>
            <a:ext cx="502920" cy="502920"/>
          </a:xfrm>
          <a:prstGeom prst="ellipse">
            <a:avLst/>
          </a:prstGeom>
          <a:solidFill>
            <a:srgbClr val="FFFFFF">
              <a:alpha val="30000"/>
            </a:srgbClr>
          </a:solidFill>
          <a:ln/>
        </p:spPr>
      </p:sp>
      <p:pic>
        <p:nvPicPr>
          <p:cNvPr id="7" name="Image 0" descr="icons/database.png"/>
          <p:cNvPicPr>
            <a:picLocks noChangeAspect="1"/>
          </p:cNvPicPr>
          <p:nvPr/>
        </p:nvPicPr>
        <p:blipFill>
          <a:blip r:embed="rId3"/>
          <a:stretch>
            <a:fillRect/>
          </a:stretch>
        </p:blipFill>
        <p:spPr>
          <a:xfrm>
            <a:off x="1275207" y="1960245"/>
            <a:ext cx="276606" cy="276606"/>
          </a:xfrm>
          <a:prstGeom prst="rect">
            <a:avLst/>
          </a:prstGeom>
        </p:spPr>
      </p:pic>
      <p:sp>
        <p:nvSpPr>
          <p:cNvPr id="8" name="Text 5"/>
          <p:cNvSpPr/>
          <p:nvPr/>
        </p:nvSpPr>
        <p:spPr>
          <a:xfrm>
            <a:off x="621792" y="2468880"/>
            <a:ext cx="1583436" cy="502920"/>
          </a:xfrm>
          <a:prstGeom prst="rect">
            <a:avLst/>
          </a:prstGeom>
          <a:noFill/>
          <a:ln/>
        </p:spPr>
        <p:txBody>
          <a:bodyPr wrap="square" rtlCol="0" anchor="ctr"/>
          <a:lstStyle/>
          <a:p>
            <a:r>
              <a:rPr lang="en-GB" b="1" dirty="0">
                <a:solidFill>
                  <a:schemeClr val="bg1"/>
                </a:solidFill>
              </a:rPr>
              <a:t>1. Acquire</a:t>
            </a:r>
          </a:p>
        </p:txBody>
      </p:sp>
      <p:sp>
        <p:nvSpPr>
          <p:cNvPr id="9" name="Text 6"/>
          <p:cNvSpPr/>
          <p:nvPr/>
        </p:nvSpPr>
        <p:spPr>
          <a:xfrm>
            <a:off x="685800" y="3063240"/>
            <a:ext cx="1455420" cy="2377440"/>
          </a:xfrm>
          <a:prstGeom prst="rect">
            <a:avLst/>
          </a:prstGeom>
          <a:noFill/>
          <a:ln/>
        </p:spPr>
        <p:txBody>
          <a:bodyPr wrap="square" rtlCol="0" anchor="ctr"/>
          <a:lstStyle/>
          <a:p>
            <a:pPr algn="just"/>
            <a:r>
              <a:rPr lang="en-GB" sz="1200" b="1" dirty="0">
                <a:solidFill>
                  <a:schemeClr val="bg1"/>
                </a:solidFill>
              </a:rPr>
              <a:t>Collected four datasets</a:t>
            </a:r>
            <a:r>
              <a:rPr lang="en-GB" sz="1200" dirty="0">
                <a:solidFill>
                  <a:schemeClr val="bg1"/>
                </a:solidFill>
              </a:rPr>
              <a:t> including Traffic, Mobility, Weather, and Demographic data for Bangalore. First, we checked the available data and identified missing transit information.</a:t>
            </a:r>
          </a:p>
        </p:txBody>
      </p:sp>
      <p:sp>
        <p:nvSpPr>
          <p:cNvPr id="10" name="Shape 7"/>
          <p:cNvSpPr/>
          <p:nvPr/>
        </p:nvSpPr>
        <p:spPr>
          <a:xfrm>
            <a:off x="2287524" y="3456432"/>
            <a:ext cx="118872" cy="128016"/>
          </a:xfrm>
          <a:prstGeom prst="rightArrow">
            <a:avLst/>
          </a:prstGeom>
          <a:solidFill>
            <a:srgbClr val="5B6B79"/>
          </a:solidFill>
          <a:ln/>
        </p:spPr>
      </p:sp>
      <p:sp>
        <p:nvSpPr>
          <p:cNvPr id="11" name="Shape 8"/>
          <p:cNvSpPr/>
          <p:nvPr/>
        </p:nvSpPr>
        <p:spPr>
          <a:xfrm>
            <a:off x="2415540" y="1463040"/>
            <a:ext cx="1729740" cy="4114800"/>
          </a:xfrm>
          <a:prstGeom prst="roundRect">
            <a:avLst>
              <a:gd name="adj" fmla="val 3700"/>
            </a:avLst>
          </a:prstGeom>
          <a:solidFill>
            <a:srgbClr val="144272"/>
          </a:solidFill>
          <a:ln/>
        </p:spPr>
        <p:txBody>
          <a:bodyPr/>
          <a:lstStyle/>
          <a:p>
            <a:endParaRPr lang="en-IN" dirty="0"/>
          </a:p>
        </p:txBody>
      </p:sp>
      <p:sp>
        <p:nvSpPr>
          <p:cNvPr id="12" name="Text 9"/>
          <p:cNvSpPr/>
          <p:nvPr/>
        </p:nvSpPr>
        <p:spPr>
          <a:xfrm>
            <a:off x="2506980" y="1554480"/>
            <a:ext cx="365760" cy="320040"/>
          </a:xfrm>
          <a:prstGeom prst="rect">
            <a:avLst/>
          </a:prstGeom>
          <a:noFill/>
          <a:ln/>
        </p:spPr>
        <p:txBody>
          <a:bodyPr wrap="square" rtlCol="0" anchor="ctr"/>
          <a:lstStyle/>
          <a:p>
            <a:pPr marL="0" indent="0">
              <a:buNone/>
            </a:pPr>
            <a:r>
              <a:rPr lang="en-US" sz="1200" b="1" dirty="0">
                <a:solidFill>
                  <a:srgbClr val="FF6B35"/>
                </a:solidFill>
                <a:latin typeface="Calibri" pitchFamily="34" charset="0"/>
                <a:ea typeface="Calibri" pitchFamily="34" charset="-122"/>
                <a:cs typeface="Calibri" pitchFamily="34" charset="-120"/>
              </a:rPr>
              <a:t>2</a:t>
            </a:r>
            <a:endParaRPr lang="en-US" sz="1200" dirty="0"/>
          </a:p>
        </p:txBody>
      </p:sp>
      <p:sp>
        <p:nvSpPr>
          <p:cNvPr id="13" name="Shape 10"/>
          <p:cNvSpPr/>
          <p:nvPr/>
        </p:nvSpPr>
        <p:spPr>
          <a:xfrm>
            <a:off x="3028950" y="1847088"/>
            <a:ext cx="502920" cy="502920"/>
          </a:xfrm>
          <a:prstGeom prst="ellipse">
            <a:avLst/>
          </a:prstGeom>
          <a:solidFill>
            <a:srgbClr val="FFFFFF">
              <a:alpha val="30000"/>
            </a:srgbClr>
          </a:solidFill>
          <a:ln/>
        </p:spPr>
      </p:sp>
      <p:pic>
        <p:nvPicPr>
          <p:cNvPr id="14" name="Image 1" descr="icons/cloud.png"/>
          <p:cNvPicPr>
            <a:picLocks noChangeAspect="1"/>
          </p:cNvPicPr>
          <p:nvPr/>
        </p:nvPicPr>
        <p:blipFill>
          <a:blip r:embed="rId4"/>
          <a:stretch>
            <a:fillRect/>
          </a:stretch>
        </p:blipFill>
        <p:spPr>
          <a:xfrm>
            <a:off x="3142107" y="1960245"/>
            <a:ext cx="276606" cy="276606"/>
          </a:xfrm>
          <a:prstGeom prst="rect">
            <a:avLst/>
          </a:prstGeom>
        </p:spPr>
      </p:pic>
      <p:sp>
        <p:nvSpPr>
          <p:cNvPr id="15" name="Text 11"/>
          <p:cNvSpPr/>
          <p:nvPr/>
        </p:nvSpPr>
        <p:spPr>
          <a:xfrm>
            <a:off x="2488692" y="2350008"/>
            <a:ext cx="1583436" cy="2799508"/>
          </a:xfrm>
          <a:prstGeom prst="rect">
            <a:avLst/>
          </a:prstGeom>
          <a:noFill/>
          <a:ln/>
        </p:spPr>
        <p:txBody>
          <a:bodyPr wrap="square" rtlCol="0" anchor="ctr"/>
          <a:lstStyle/>
          <a:p>
            <a:pPr algn="just"/>
            <a:r>
              <a:rPr lang="en-GB" sz="1600" b="1" dirty="0">
                <a:solidFill>
                  <a:schemeClr val="bg1"/>
                </a:solidFill>
              </a:rPr>
              <a:t>2. Standardize &amp; Clean</a:t>
            </a:r>
          </a:p>
          <a:p>
            <a:pPr algn="just"/>
            <a:endParaRPr lang="en-GB" sz="1200" b="1" dirty="0">
              <a:solidFill>
                <a:schemeClr val="bg1"/>
              </a:solidFill>
            </a:endParaRPr>
          </a:p>
          <a:p>
            <a:pPr algn="just"/>
            <a:endParaRPr lang="en-GB" sz="1200" b="1" dirty="0">
              <a:solidFill>
                <a:schemeClr val="bg1"/>
              </a:solidFill>
            </a:endParaRPr>
          </a:p>
          <a:p>
            <a:pPr algn="just"/>
            <a:r>
              <a:rPr lang="en-GB" sz="1100" b="1" dirty="0">
                <a:solidFill>
                  <a:schemeClr val="bg1"/>
                </a:solidFill>
              </a:rPr>
              <a:t>Cleaned all datasets</a:t>
            </a:r>
            <a:r>
              <a:rPr lang="en-GB" sz="1100" dirty="0">
                <a:solidFill>
                  <a:schemeClr val="bg1"/>
                </a:solidFill>
              </a:rPr>
              <a:t> by removing duplicates, fixing date formats, converting percentage values into numbers, and checking data quality to ensure accurate analysis.</a:t>
            </a:r>
          </a:p>
        </p:txBody>
      </p:sp>
      <p:sp>
        <p:nvSpPr>
          <p:cNvPr id="17" name="Shape 13"/>
          <p:cNvSpPr/>
          <p:nvPr/>
        </p:nvSpPr>
        <p:spPr>
          <a:xfrm>
            <a:off x="4154424" y="3456432"/>
            <a:ext cx="118872" cy="128016"/>
          </a:xfrm>
          <a:prstGeom prst="rightArrow">
            <a:avLst/>
          </a:prstGeom>
          <a:solidFill>
            <a:srgbClr val="5B6B79"/>
          </a:solidFill>
          <a:ln/>
        </p:spPr>
      </p:sp>
      <p:sp>
        <p:nvSpPr>
          <p:cNvPr id="18" name="Shape 14"/>
          <p:cNvSpPr/>
          <p:nvPr/>
        </p:nvSpPr>
        <p:spPr>
          <a:xfrm>
            <a:off x="4282440" y="1463040"/>
            <a:ext cx="1729740" cy="4114800"/>
          </a:xfrm>
          <a:prstGeom prst="roundRect">
            <a:avLst>
              <a:gd name="adj" fmla="val 3700"/>
            </a:avLst>
          </a:prstGeom>
          <a:solidFill>
            <a:srgbClr val="0A2647"/>
          </a:solidFill>
          <a:ln/>
        </p:spPr>
        <p:txBody>
          <a:bodyPr/>
          <a:lstStyle/>
          <a:p>
            <a:endParaRPr lang="en-IN" dirty="0"/>
          </a:p>
        </p:txBody>
      </p:sp>
      <p:sp>
        <p:nvSpPr>
          <p:cNvPr id="19" name="Text 15"/>
          <p:cNvSpPr/>
          <p:nvPr/>
        </p:nvSpPr>
        <p:spPr>
          <a:xfrm>
            <a:off x="4373880" y="1554480"/>
            <a:ext cx="365760" cy="320040"/>
          </a:xfrm>
          <a:prstGeom prst="rect">
            <a:avLst/>
          </a:prstGeom>
          <a:noFill/>
          <a:ln/>
        </p:spPr>
        <p:txBody>
          <a:bodyPr wrap="square" rtlCol="0" anchor="ctr"/>
          <a:lstStyle/>
          <a:p>
            <a:pPr marL="0" indent="0">
              <a:buNone/>
            </a:pPr>
            <a:r>
              <a:rPr lang="en-US" sz="1200" b="1" dirty="0">
                <a:solidFill>
                  <a:srgbClr val="FF6B35"/>
                </a:solidFill>
                <a:latin typeface="Calibri" pitchFamily="34" charset="0"/>
                <a:ea typeface="Calibri" pitchFamily="34" charset="-122"/>
                <a:cs typeface="Calibri" pitchFamily="34" charset="-120"/>
              </a:rPr>
              <a:t>3</a:t>
            </a:r>
            <a:endParaRPr lang="en-US" sz="1200" dirty="0"/>
          </a:p>
        </p:txBody>
      </p:sp>
      <p:sp>
        <p:nvSpPr>
          <p:cNvPr id="20" name="Shape 16"/>
          <p:cNvSpPr/>
          <p:nvPr/>
        </p:nvSpPr>
        <p:spPr>
          <a:xfrm>
            <a:off x="4895850" y="1847088"/>
            <a:ext cx="502920" cy="502920"/>
          </a:xfrm>
          <a:prstGeom prst="ellipse">
            <a:avLst/>
          </a:prstGeom>
          <a:solidFill>
            <a:srgbClr val="FFFFFF">
              <a:alpha val="30000"/>
            </a:srgbClr>
          </a:solidFill>
          <a:ln/>
        </p:spPr>
      </p:sp>
      <p:pic>
        <p:nvPicPr>
          <p:cNvPr id="21" name="Image 2" descr="icons/cogs.png"/>
          <p:cNvPicPr>
            <a:picLocks noChangeAspect="1"/>
          </p:cNvPicPr>
          <p:nvPr/>
        </p:nvPicPr>
        <p:blipFill>
          <a:blip r:embed="rId5"/>
          <a:stretch>
            <a:fillRect/>
          </a:stretch>
        </p:blipFill>
        <p:spPr>
          <a:xfrm>
            <a:off x="5009007" y="1960245"/>
            <a:ext cx="276606" cy="276606"/>
          </a:xfrm>
          <a:prstGeom prst="rect">
            <a:avLst/>
          </a:prstGeom>
        </p:spPr>
      </p:pic>
      <p:sp>
        <p:nvSpPr>
          <p:cNvPr id="22" name="Text 17"/>
          <p:cNvSpPr/>
          <p:nvPr/>
        </p:nvSpPr>
        <p:spPr>
          <a:xfrm>
            <a:off x="4355592" y="2468880"/>
            <a:ext cx="1583436" cy="2680636"/>
          </a:xfrm>
          <a:prstGeom prst="rect">
            <a:avLst/>
          </a:prstGeom>
          <a:noFill/>
          <a:ln/>
        </p:spPr>
        <p:txBody>
          <a:bodyPr wrap="square" rtlCol="0" anchor="ctr"/>
          <a:lstStyle/>
          <a:p>
            <a:pPr algn="just"/>
            <a:r>
              <a:rPr lang="en-GB" b="1" dirty="0">
                <a:solidFill>
                  <a:schemeClr val="bg1"/>
                </a:solidFill>
              </a:rPr>
              <a:t>3. Model</a:t>
            </a:r>
          </a:p>
          <a:p>
            <a:pPr algn="just"/>
            <a:endParaRPr lang="en-GB" sz="1200" b="1" dirty="0">
              <a:solidFill>
                <a:schemeClr val="bg1"/>
              </a:solidFill>
            </a:endParaRPr>
          </a:p>
          <a:p>
            <a:pPr algn="just"/>
            <a:endParaRPr lang="en-GB" sz="1200" b="1" dirty="0">
              <a:solidFill>
                <a:schemeClr val="bg1"/>
              </a:solidFill>
            </a:endParaRPr>
          </a:p>
          <a:p>
            <a:pPr algn="just"/>
            <a:endParaRPr lang="en-GB" sz="1200" b="1" dirty="0">
              <a:solidFill>
                <a:schemeClr val="bg1"/>
              </a:solidFill>
            </a:endParaRPr>
          </a:p>
          <a:p>
            <a:pPr algn="just"/>
            <a:r>
              <a:rPr lang="en-GB" sz="1200" b="1" dirty="0">
                <a:solidFill>
                  <a:schemeClr val="bg1"/>
                </a:solidFill>
              </a:rPr>
              <a:t>Connected the datasets</a:t>
            </a:r>
            <a:r>
              <a:rPr lang="en-GB" sz="1200" dirty="0">
                <a:solidFill>
                  <a:schemeClr val="bg1"/>
                </a:solidFill>
              </a:rPr>
              <a:t> using a common </a:t>
            </a:r>
            <a:r>
              <a:rPr lang="en-GB" sz="1200" b="1" dirty="0">
                <a:solidFill>
                  <a:schemeClr val="bg1"/>
                </a:solidFill>
              </a:rPr>
              <a:t>Zone</a:t>
            </a:r>
            <a:r>
              <a:rPr lang="en-GB" sz="1200" dirty="0">
                <a:solidFill>
                  <a:schemeClr val="bg1"/>
                </a:solidFill>
              </a:rPr>
              <a:t> key and created a </a:t>
            </a:r>
            <a:r>
              <a:rPr lang="en-GB" sz="1200" b="1" dirty="0">
                <a:solidFill>
                  <a:schemeClr val="bg1"/>
                </a:solidFill>
              </a:rPr>
              <a:t>Star Schema</a:t>
            </a:r>
            <a:r>
              <a:rPr lang="en-GB" sz="1200" dirty="0">
                <a:solidFill>
                  <a:schemeClr val="bg1"/>
                </a:solidFill>
              </a:rPr>
              <a:t> with one Fact table (</a:t>
            </a:r>
            <a:r>
              <a:rPr lang="en-GB" sz="1200" b="1" dirty="0" err="1">
                <a:solidFill>
                  <a:schemeClr val="bg1"/>
                </a:solidFill>
              </a:rPr>
              <a:t>fact_traffic</a:t>
            </a:r>
            <a:r>
              <a:rPr lang="en-GB" sz="1200" dirty="0">
                <a:solidFill>
                  <a:schemeClr val="bg1"/>
                </a:solidFill>
              </a:rPr>
              <a:t>) and two Dimension tables (</a:t>
            </a:r>
            <a:r>
              <a:rPr lang="en-GB" sz="1200" b="1" dirty="0" err="1">
                <a:solidFill>
                  <a:schemeClr val="bg1"/>
                </a:solidFill>
              </a:rPr>
              <a:t>dim_zone</a:t>
            </a:r>
            <a:r>
              <a:rPr lang="en-GB" sz="1200" dirty="0">
                <a:solidFill>
                  <a:schemeClr val="bg1"/>
                </a:solidFill>
              </a:rPr>
              <a:t> and </a:t>
            </a:r>
            <a:r>
              <a:rPr lang="en-GB" sz="1200" b="1" dirty="0" err="1">
                <a:solidFill>
                  <a:schemeClr val="bg1"/>
                </a:solidFill>
              </a:rPr>
              <a:t>dim_date</a:t>
            </a:r>
            <a:r>
              <a:rPr lang="en-GB" sz="1200" dirty="0">
                <a:solidFill>
                  <a:schemeClr val="bg1"/>
                </a:solidFill>
              </a:rPr>
              <a:t>) for efficient reporting. </a:t>
            </a:r>
          </a:p>
        </p:txBody>
      </p:sp>
      <p:sp>
        <p:nvSpPr>
          <p:cNvPr id="23" name="Text 18"/>
          <p:cNvSpPr/>
          <p:nvPr/>
        </p:nvSpPr>
        <p:spPr>
          <a:xfrm>
            <a:off x="4419600" y="3063240"/>
            <a:ext cx="1455420" cy="2377440"/>
          </a:xfrm>
          <a:prstGeom prst="rect">
            <a:avLst/>
          </a:prstGeom>
          <a:noFill/>
          <a:ln/>
        </p:spPr>
        <p:txBody>
          <a:bodyPr wrap="square" rtlCol="0" anchor="ctr"/>
          <a:lstStyle/>
          <a:p>
            <a:pPr marL="342900" indent="-342900">
              <a:lnSpc>
                <a:spcPct val="125000"/>
              </a:lnSpc>
              <a:buSzPct val="100000"/>
              <a:buChar char="•"/>
            </a:pPr>
            <a:endParaRPr lang="en-US" sz="900" dirty="0"/>
          </a:p>
        </p:txBody>
      </p:sp>
      <p:sp>
        <p:nvSpPr>
          <p:cNvPr id="24" name="Shape 19"/>
          <p:cNvSpPr/>
          <p:nvPr/>
        </p:nvSpPr>
        <p:spPr>
          <a:xfrm>
            <a:off x="6021324" y="3456432"/>
            <a:ext cx="118872" cy="128016"/>
          </a:xfrm>
          <a:prstGeom prst="rightArrow">
            <a:avLst/>
          </a:prstGeom>
          <a:solidFill>
            <a:srgbClr val="5B6B79"/>
          </a:solidFill>
          <a:ln/>
        </p:spPr>
      </p:sp>
      <p:sp>
        <p:nvSpPr>
          <p:cNvPr id="25" name="Shape 20"/>
          <p:cNvSpPr/>
          <p:nvPr/>
        </p:nvSpPr>
        <p:spPr>
          <a:xfrm>
            <a:off x="6149340" y="1463040"/>
            <a:ext cx="1729740" cy="4114800"/>
          </a:xfrm>
          <a:prstGeom prst="roundRect">
            <a:avLst>
              <a:gd name="adj" fmla="val 3700"/>
            </a:avLst>
          </a:prstGeom>
          <a:solidFill>
            <a:srgbClr val="2C74B3"/>
          </a:solidFill>
          <a:ln/>
        </p:spPr>
      </p:sp>
      <p:sp>
        <p:nvSpPr>
          <p:cNvPr id="26" name="Text 21"/>
          <p:cNvSpPr/>
          <p:nvPr/>
        </p:nvSpPr>
        <p:spPr>
          <a:xfrm>
            <a:off x="6240780" y="1554480"/>
            <a:ext cx="365760" cy="320040"/>
          </a:xfrm>
          <a:prstGeom prst="rect">
            <a:avLst/>
          </a:prstGeom>
          <a:noFill/>
          <a:ln/>
        </p:spPr>
        <p:txBody>
          <a:bodyPr wrap="square" rtlCol="0" anchor="ctr"/>
          <a:lstStyle/>
          <a:p>
            <a:pPr marL="0" indent="0">
              <a:buNone/>
            </a:pPr>
            <a:r>
              <a:rPr lang="en-US" sz="1200" b="1" dirty="0">
                <a:solidFill>
                  <a:srgbClr val="FF6B35"/>
                </a:solidFill>
                <a:latin typeface="Calibri" pitchFamily="34" charset="0"/>
                <a:ea typeface="Calibri" pitchFamily="34" charset="-122"/>
                <a:cs typeface="Calibri" pitchFamily="34" charset="-120"/>
              </a:rPr>
              <a:t>4</a:t>
            </a:r>
            <a:endParaRPr lang="en-US" sz="1200" dirty="0"/>
          </a:p>
        </p:txBody>
      </p:sp>
      <p:sp>
        <p:nvSpPr>
          <p:cNvPr id="27" name="Shape 22"/>
          <p:cNvSpPr/>
          <p:nvPr/>
        </p:nvSpPr>
        <p:spPr>
          <a:xfrm>
            <a:off x="6762750" y="1847088"/>
            <a:ext cx="502920" cy="502920"/>
          </a:xfrm>
          <a:prstGeom prst="ellipse">
            <a:avLst/>
          </a:prstGeom>
          <a:solidFill>
            <a:srgbClr val="FFFFFF">
              <a:alpha val="30000"/>
            </a:srgbClr>
          </a:solidFill>
          <a:ln/>
        </p:spPr>
      </p:sp>
      <p:pic>
        <p:nvPicPr>
          <p:cNvPr id="28" name="Image 3" descr="icons/area.png"/>
          <p:cNvPicPr>
            <a:picLocks noChangeAspect="1"/>
          </p:cNvPicPr>
          <p:nvPr/>
        </p:nvPicPr>
        <p:blipFill>
          <a:blip r:embed="rId6"/>
          <a:stretch>
            <a:fillRect/>
          </a:stretch>
        </p:blipFill>
        <p:spPr>
          <a:xfrm>
            <a:off x="6875907" y="1960245"/>
            <a:ext cx="276606" cy="276606"/>
          </a:xfrm>
          <a:prstGeom prst="rect">
            <a:avLst/>
          </a:prstGeom>
        </p:spPr>
      </p:pic>
      <p:sp>
        <p:nvSpPr>
          <p:cNvPr id="29" name="Text 23"/>
          <p:cNvSpPr/>
          <p:nvPr/>
        </p:nvSpPr>
        <p:spPr>
          <a:xfrm>
            <a:off x="6222492" y="2468880"/>
            <a:ext cx="1583436" cy="2834640"/>
          </a:xfrm>
          <a:prstGeom prst="rect">
            <a:avLst/>
          </a:prstGeom>
          <a:noFill/>
          <a:ln/>
        </p:spPr>
        <p:txBody>
          <a:bodyPr wrap="square" rtlCol="0" anchor="ctr"/>
          <a:lstStyle/>
          <a:p>
            <a:pPr algn="just"/>
            <a:r>
              <a:rPr lang="en-GB" sz="1400" b="1" dirty="0">
                <a:solidFill>
                  <a:schemeClr val="bg1"/>
                </a:solidFill>
              </a:rPr>
              <a:t>4. Load &amp; Visualize</a:t>
            </a:r>
          </a:p>
          <a:p>
            <a:pPr algn="just"/>
            <a:endParaRPr lang="en-GB" sz="1400" b="1" dirty="0">
              <a:solidFill>
                <a:schemeClr val="bg1"/>
              </a:solidFill>
            </a:endParaRPr>
          </a:p>
          <a:p>
            <a:pPr algn="just"/>
            <a:endParaRPr lang="en-GB" sz="1200" b="1" dirty="0">
              <a:solidFill>
                <a:schemeClr val="bg1"/>
              </a:solidFill>
            </a:endParaRPr>
          </a:p>
          <a:p>
            <a:pPr algn="just"/>
            <a:r>
              <a:rPr lang="en-GB" sz="1200" b="1" dirty="0">
                <a:solidFill>
                  <a:schemeClr val="bg1"/>
                </a:solidFill>
              </a:rPr>
              <a:t>Loaded the final tables into Power BI</a:t>
            </a:r>
            <a:r>
              <a:rPr lang="en-GB" sz="1200" dirty="0">
                <a:solidFill>
                  <a:schemeClr val="bg1"/>
                </a:solidFill>
              </a:rPr>
              <a:t> and built an interactive dashboard with KPI cards, traffic trends, mobility insights, and population analysis. Weather data was shown as a separate reference chart.</a:t>
            </a:r>
          </a:p>
          <a:p>
            <a:pPr marL="0" indent="0" algn="just">
              <a:lnSpc>
                <a:spcPct val="105000"/>
              </a:lnSpc>
              <a:buNone/>
            </a:pPr>
            <a:endParaRPr lang="en-US" sz="1150" dirty="0">
              <a:solidFill>
                <a:schemeClr val="bg1"/>
              </a:solidFill>
            </a:endParaRPr>
          </a:p>
        </p:txBody>
      </p:sp>
      <p:sp>
        <p:nvSpPr>
          <p:cNvPr id="30" name="Text 24"/>
          <p:cNvSpPr/>
          <p:nvPr/>
        </p:nvSpPr>
        <p:spPr>
          <a:xfrm>
            <a:off x="6286500" y="3063240"/>
            <a:ext cx="1455420" cy="2377440"/>
          </a:xfrm>
          <a:prstGeom prst="rect">
            <a:avLst/>
          </a:prstGeom>
          <a:noFill/>
          <a:ln/>
        </p:spPr>
        <p:txBody>
          <a:bodyPr wrap="square" rtlCol="0" anchor="ctr"/>
          <a:lstStyle/>
          <a:p>
            <a:pPr marL="342900" indent="-342900">
              <a:lnSpc>
                <a:spcPct val="125000"/>
              </a:lnSpc>
              <a:buSzPct val="100000"/>
              <a:buChar char="•"/>
            </a:pPr>
            <a:endParaRPr lang="en-US" sz="900" dirty="0"/>
          </a:p>
        </p:txBody>
      </p:sp>
      <p:sp>
        <p:nvSpPr>
          <p:cNvPr id="33" name="Text 27"/>
          <p:cNvSpPr/>
          <p:nvPr/>
        </p:nvSpPr>
        <p:spPr>
          <a:xfrm>
            <a:off x="9980676" y="2512194"/>
            <a:ext cx="365760" cy="320040"/>
          </a:xfrm>
          <a:prstGeom prst="rect">
            <a:avLst/>
          </a:prstGeom>
          <a:noFill/>
          <a:ln/>
        </p:spPr>
        <p:txBody>
          <a:bodyPr wrap="square" rtlCol="0" anchor="ctr"/>
          <a:lstStyle/>
          <a:p>
            <a:pPr marL="0" indent="0">
              <a:buNone/>
            </a:pPr>
            <a:endParaRPr lang="en-US" sz="1200" dirty="0"/>
          </a:p>
        </p:txBody>
      </p:sp>
      <p:sp>
        <p:nvSpPr>
          <p:cNvPr id="34" name="Shape 28"/>
          <p:cNvSpPr/>
          <p:nvPr/>
        </p:nvSpPr>
        <p:spPr>
          <a:xfrm>
            <a:off x="8629650" y="1847088"/>
            <a:ext cx="502920" cy="502920"/>
          </a:xfrm>
          <a:prstGeom prst="ellipse">
            <a:avLst/>
          </a:prstGeom>
          <a:solidFill>
            <a:srgbClr val="FFFFFF">
              <a:alpha val="30000"/>
            </a:srgbClr>
          </a:solidFill>
          <a:ln/>
        </p:spPr>
      </p:sp>
      <p:pic>
        <p:nvPicPr>
          <p:cNvPr id="35" name="Image 4" descr="icons/bulb.png"/>
          <p:cNvPicPr>
            <a:picLocks noChangeAspect="1"/>
          </p:cNvPicPr>
          <p:nvPr/>
        </p:nvPicPr>
        <p:blipFill>
          <a:blip r:embed="rId7"/>
          <a:stretch>
            <a:fillRect/>
          </a:stretch>
        </p:blipFill>
        <p:spPr>
          <a:xfrm>
            <a:off x="8742807" y="1960245"/>
            <a:ext cx="276606" cy="276606"/>
          </a:xfrm>
          <a:prstGeom prst="rect">
            <a:avLst/>
          </a:prstGeom>
        </p:spPr>
      </p:pic>
      <p:sp>
        <p:nvSpPr>
          <p:cNvPr id="37" name="Text 30"/>
          <p:cNvSpPr/>
          <p:nvPr/>
        </p:nvSpPr>
        <p:spPr>
          <a:xfrm>
            <a:off x="8153400" y="3063240"/>
            <a:ext cx="1455420" cy="2377440"/>
          </a:xfrm>
          <a:prstGeom prst="rect">
            <a:avLst/>
          </a:prstGeom>
          <a:noFill/>
          <a:ln/>
        </p:spPr>
        <p:txBody>
          <a:bodyPr wrap="square" rtlCol="0" anchor="ctr"/>
          <a:lstStyle/>
          <a:p>
            <a:pPr marL="342900" indent="-342900">
              <a:lnSpc>
                <a:spcPct val="125000"/>
              </a:lnSpc>
              <a:buSzPct val="100000"/>
              <a:buChar char="•"/>
            </a:pPr>
            <a:endParaRPr lang="en-US" sz="900" dirty="0"/>
          </a:p>
        </p:txBody>
      </p:sp>
      <p:sp>
        <p:nvSpPr>
          <p:cNvPr id="41" name="Shape 34"/>
          <p:cNvSpPr/>
          <p:nvPr/>
        </p:nvSpPr>
        <p:spPr>
          <a:xfrm>
            <a:off x="10496550" y="1847088"/>
            <a:ext cx="502920" cy="502920"/>
          </a:xfrm>
          <a:prstGeom prst="ellipse">
            <a:avLst/>
          </a:prstGeom>
          <a:solidFill>
            <a:srgbClr val="FFFFFF">
              <a:alpha val="30000"/>
            </a:srgbClr>
          </a:solidFill>
          <a:ln/>
        </p:spPr>
      </p:sp>
      <p:sp>
        <p:nvSpPr>
          <p:cNvPr id="43" name="Text 35"/>
          <p:cNvSpPr/>
          <p:nvPr/>
        </p:nvSpPr>
        <p:spPr>
          <a:xfrm>
            <a:off x="9956292" y="2468880"/>
            <a:ext cx="1583436" cy="502920"/>
          </a:xfrm>
          <a:prstGeom prst="rect">
            <a:avLst/>
          </a:prstGeom>
          <a:noFill/>
          <a:ln/>
        </p:spPr>
        <p:txBody>
          <a:bodyPr wrap="square" rtlCol="0" anchor="ctr"/>
          <a:lstStyle/>
          <a:p>
            <a:pPr marL="0" indent="0" algn="ctr">
              <a:lnSpc>
                <a:spcPct val="105000"/>
              </a:lnSpc>
              <a:buNone/>
            </a:pPr>
            <a:r>
              <a:rPr lang="en-US" sz="1150" b="1" dirty="0">
                <a:solidFill>
                  <a:srgbClr val="FFFFFF"/>
                </a:solidFill>
                <a:latin typeface="Calibri" pitchFamily="34" charset="0"/>
                <a:ea typeface="Calibri" pitchFamily="34" charset="-122"/>
                <a:cs typeface="Calibri" pitchFamily="34" charset="-120"/>
              </a:rPr>
              <a:t>Stakeholders</a:t>
            </a:r>
            <a:endParaRPr lang="en-US" sz="1150" dirty="0"/>
          </a:p>
        </p:txBody>
      </p:sp>
      <p:sp>
        <p:nvSpPr>
          <p:cNvPr id="46" name="Text 38"/>
          <p:cNvSpPr/>
          <p:nvPr/>
        </p:nvSpPr>
        <p:spPr>
          <a:xfrm>
            <a:off x="548640" y="5971032"/>
            <a:ext cx="11064240" cy="274320"/>
          </a:xfrm>
          <a:prstGeom prst="rect">
            <a:avLst/>
          </a:prstGeom>
          <a:noFill/>
          <a:ln/>
        </p:spPr>
        <p:txBody>
          <a:bodyPr wrap="square" rtlCol="0" anchor="ctr"/>
          <a:lstStyle/>
          <a:p>
            <a:pPr marL="0" indent="0" algn="ctr">
              <a:buNone/>
            </a:pPr>
            <a:endParaRPr lang="en-US" sz="1000" dirty="0"/>
          </a:p>
        </p:txBody>
      </p:sp>
      <p:sp>
        <p:nvSpPr>
          <p:cNvPr id="47" name="Text 39"/>
          <p:cNvSpPr/>
          <p:nvPr/>
        </p:nvSpPr>
        <p:spPr>
          <a:xfrm>
            <a:off x="457200" y="6400800"/>
            <a:ext cx="2743200" cy="274320"/>
          </a:xfrm>
          <a:prstGeom prst="rect">
            <a:avLst/>
          </a:prstGeom>
          <a:noFill/>
          <a:ln/>
        </p:spPr>
        <p:txBody>
          <a:bodyPr wrap="square" rtlCol="0" anchor="ctr"/>
          <a:lstStyle/>
          <a:p>
            <a:pPr marL="0" indent="0">
              <a:buNone/>
            </a:pPr>
            <a:r>
              <a:rPr lang="en-US" sz="1000" kern="0" spc="200" dirty="0">
                <a:solidFill>
                  <a:srgbClr val="5B6B79"/>
                </a:solidFill>
                <a:latin typeface="Calibri" pitchFamily="34" charset="0"/>
                <a:ea typeface="Calibri" pitchFamily="34" charset="-122"/>
                <a:cs typeface="Calibri" pitchFamily="34" charset="-120"/>
              </a:rPr>
              <a:t>URBAN PULSE</a:t>
            </a:r>
            <a:endParaRPr lang="en-US" sz="1000" dirty="0"/>
          </a:p>
        </p:txBody>
      </p:sp>
      <p:sp>
        <p:nvSpPr>
          <p:cNvPr id="48" name="Text 40"/>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08</a:t>
            </a:r>
            <a:endParaRPr lang="en-US" sz="1000" dirty="0"/>
          </a:p>
        </p:txBody>
      </p:sp>
      <p:pic>
        <p:nvPicPr>
          <p:cNvPr id="52" name="Picture 51">
            <a:extLst>
              <a:ext uri="{FF2B5EF4-FFF2-40B4-BE49-F238E27FC236}">
                <a16:creationId xmlns:a16="http://schemas.microsoft.com/office/drawing/2014/main" id="{5AEC5D5E-AD7C-1832-5E27-532A953908E9}"/>
              </a:ext>
            </a:extLst>
          </p:cNvPr>
          <p:cNvPicPr>
            <a:picLocks noChangeAspect="1"/>
          </p:cNvPicPr>
          <p:nvPr/>
        </p:nvPicPr>
        <p:blipFill>
          <a:blip r:embed="rId8"/>
          <a:srcRect t="15254"/>
          <a:stretch>
            <a:fillRect/>
          </a:stretch>
        </p:blipFill>
        <p:spPr>
          <a:xfrm>
            <a:off x="0" y="1280160"/>
            <a:ext cx="12192000" cy="55778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0A2647"/>
        </a:solidFill>
        <a:effectLst/>
      </p:bgPr>
    </p:bg>
    <p:spTree>
      <p:nvGrpSpPr>
        <p:cNvPr id="1" name=""/>
        <p:cNvGrpSpPr/>
        <p:nvPr/>
      </p:nvGrpSpPr>
      <p:grpSpPr>
        <a:xfrm>
          <a:off x="0" y="0"/>
          <a:ext cx="0" cy="0"/>
          <a:chOff x="0" y="0"/>
          <a:chExt cx="0" cy="0"/>
        </a:xfrm>
      </p:grpSpPr>
      <p:sp>
        <p:nvSpPr>
          <p:cNvPr id="2" name="Shape 0"/>
          <p:cNvSpPr/>
          <p:nvPr/>
        </p:nvSpPr>
        <p:spPr>
          <a:xfrm>
            <a:off x="-1645920" y="-1828800"/>
            <a:ext cx="5486400" cy="5486400"/>
          </a:xfrm>
          <a:prstGeom prst="ellipse">
            <a:avLst/>
          </a:prstGeom>
          <a:solidFill>
            <a:srgbClr val="144272">
              <a:alpha val="45000"/>
            </a:srgbClr>
          </a:solidFill>
          <a:ln/>
        </p:spPr>
      </p:sp>
      <p:sp>
        <p:nvSpPr>
          <p:cNvPr id="3" name="Shape 1"/>
          <p:cNvSpPr/>
          <p:nvPr/>
        </p:nvSpPr>
        <p:spPr>
          <a:xfrm>
            <a:off x="9144000" y="3474720"/>
            <a:ext cx="4572000" cy="4572000"/>
          </a:xfrm>
          <a:prstGeom prst="ellipse">
            <a:avLst/>
          </a:prstGeom>
          <a:solidFill>
            <a:srgbClr val="2C74B3">
              <a:alpha val="40000"/>
            </a:srgbClr>
          </a:solidFill>
          <a:ln/>
        </p:spPr>
      </p:sp>
      <p:sp>
        <p:nvSpPr>
          <p:cNvPr id="4" name="Shape 2"/>
          <p:cNvSpPr/>
          <p:nvPr/>
        </p:nvSpPr>
        <p:spPr>
          <a:xfrm>
            <a:off x="5591556" y="1554480"/>
            <a:ext cx="1005840" cy="1005840"/>
          </a:xfrm>
          <a:prstGeom prst="ellipse">
            <a:avLst/>
          </a:prstGeom>
          <a:solidFill>
            <a:srgbClr val="FF6B35"/>
          </a:solidFill>
          <a:ln/>
        </p:spPr>
      </p:sp>
      <p:pic>
        <p:nvPicPr>
          <p:cNvPr id="5" name="Image 0" descr="icons/rocket.png"/>
          <p:cNvPicPr>
            <a:picLocks noChangeAspect="1"/>
          </p:cNvPicPr>
          <p:nvPr/>
        </p:nvPicPr>
        <p:blipFill>
          <a:blip r:embed="rId3"/>
          <a:stretch>
            <a:fillRect/>
          </a:stretch>
        </p:blipFill>
        <p:spPr>
          <a:xfrm>
            <a:off x="5817870" y="1780794"/>
            <a:ext cx="553212" cy="553212"/>
          </a:xfrm>
          <a:prstGeom prst="rect">
            <a:avLst/>
          </a:prstGeom>
        </p:spPr>
      </p:pic>
      <p:sp>
        <p:nvSpPr>
          <p:cNvPr id="6" name="Text 3"/>
          <p:cNvSpPr/>
          <p:nvPr/>
        </p:nvSpPr>
        <p:spPr>
          <a:xfrm>
            <a:off x="914400" y="2834640"/>
            <a:ext cx="10332720" cy="822960"/>
          </a:xfrm>
          <a:prstGeom prst="rect">
            <a:avLst/>
          </a:prstGeom>
          <a:noFill/>
          <a:ln/>
        </p:spPr>
        <p:txBody>
          <a:bodyPr wrap="square" rtlCol="0" anchor="ctr"/>
          <a:lstStyle/>
          <a:p>
            <a:pPr marL="0" indent="0" algn="ctr">
              <a:buNone/>
            </a:pPr>
            <a:r>
              <a:rPr lang="en-US" sz="4000" b="1" dirty="0">
                <a:solidFill>
                  <a:schemeClr val="bg1"/>
                </a:solidFill>
              </a:rPr>
              <a:t>THANK YOU </a:t>
            </a:r>
          </a:p>
        </p:txBody>
      </p:sp>
      <p:sp>
        <p:nvSpPr>
          <p:cNvPr id="7" name="Text 4"/>
          <p:cNvSpPr/>
          <p:nvPr/>
        </p:nvSpPr>
        <p:spPr>
          <a:xfrm>
            <a:off x="1828800" y="3657600"/>
            <a:ext cx="8503920" cy="822960"/>
          </a:xfrm>
          <a:prstGeom prst="rect">
            <a:avLst/>
          </a:prstGeom>
          <a:noFill/>
          <a:ln/>
        </p:spPr>
        <p:txBody>
          <a:bodyPr wrap="square" rtlCol="0" anchor="ctr"/>
          <a:lstStyle/>
          <a:p>
            <a:pPr marL="0" indent="0" algn="ctr">
              <a:lnSpc>
                <a:spcPct val="130000"/>
              </a:lnSpc>
              <a:buNone/>
            </a:pPr>
            <a:endParaRPr lang="en-US" sz="1400" dirty="0"/>
          </a:p>
        </p:txBody>
      </p:sp>
      <p:sp>
        <p:nvSpPr>
          <p:cNvPr id="9" name="Text 6"/>
          <p:cNvSpPr/>
          <p:nvPr/>
        </p:nvSpPr>
        <p:spPr>
          <a:xfrm>
            <a:off x="1065276" y="4709160"/>
            <a:ext cx="2377440" cy="502920"/>
          </a:xfrm>
          <a:prstGeom prst="rect">
            <a:avLst/>
          </a:prstGeom>
          <a:noFill/>
          <a:ln/>
        </p:spPr>
        <p:txBody>
          <a:bodyPr wrap="square" rtlCol="0" anchor="ctr"/>
          <a:lstStyle/>
          <a:p>
            <a:pPr marL="0" indent="0" algn="ctr">
              <a:buNone/>
            </a:pPr>
            <a:endParaRPr lang="en-US" sz="1050" dirty="0"/>
          </a:p>
        </p:txBody>
      </p:sp>
      <p:sp>
        <p:nvSpPr>
          <p:cNvPr id="11" name="Text 8"/>
          <p:cNvSpPr/>
          <p:nvPr/>
        </p:nvSpPr>
        <p:spPr>
          <a:xfrm>
            <a:off x="3625596" y="4709160"/>
            <a:ext cx="2377440" cy="502920"/>
          </a:xfrm>
          <a:prstGeom prst="rect">
            <a:avLst/>
          </a:prstGeom>
          <a:noFill/>
          <a:ln/>
        </p:spPr>
        <p:txBody>
          <a:bodyPr wrap="square" rtlCol="0" anchor="ctr"/>
          <a:lstStyle/>
          <a:p>
            <a:pPr marL="0" indent="0" algn="ctr">
              <a:buNone/>
            </a:pPr>
            <a:endParaRPr lang="en-US" sz="1050" dirty="0"/>
          </a:p>
        </p:txBody>
      </p:sp>
      <p:sp>
        <p:nvSpPr>
          <p:cNvPr id="13" name="Text 10"/>
          <p:cNvSpPr/>
          <p:nvPr/>
        </p:nvSpPr>
        <p:spPr>
          <a:xfrm>
            <a:off x="6185916" y="4709160"/>
            <a:ext cx="2377440" cy="502920"/>
          </a:xfrm>
          <a:prstGeom prst="rect">
            <a:avLst/>
          </a:prstGeom>
          <a:noFill/>
          <a:ln/>
        </p:spPr>
        <p:txBody>
          <a:bodyPr wrap="square" rtlCol="0" anchor="ctr"/>
          <a:lstStyle/>
          <a:p>
            <a:pPr marL="0" indent="0" algn="ctr">
              <a:buNone/>
            </a:pPr>
            <a:endParaRPr lang="en-US" sz="1050" dirty="0"/>
          </a:p>
        </p:txBody>
      </p:sp>
      <p:sp>
        <p:nvSpPr>
          <p:cNvPr id="15" name="Text 12"/>
          <p:cNvSpPr/>
          <p:nvPr/>
        </p:nvSpPr>
        <p:spPr>
          <a:xfrm>
            <a:off x="8746236" y="4709160"/>
            <a:ext cx="2377440" cy="502920"/>
          </a:xfrm>
          <a:prstGeom prst="rect">
            <a:avLst/>
          </a:prstGeom>
          <a:noFill/>
          <a:ln/>
        </p:spPr>
        <p:txBody>
          <a:bodyPr wrap="square" rtlCol="0" anchor="ctr"/>
          <a:lstStyle/>
          <a:p>
            <a:pPr marL="0" indent="0" algn="ctr">
              <a:buNone/>
            </a:pPr>
            <a:endParaRPr lang="en-US" sz="1050" dirty="0"/>
          </a:p>
        </p:txBody>
      </p:sp>
      <p:sp>
        <p:nvSpPr>
          <p:cNvPr id="16" name="Text 13"/>
          <p:cNvSpPr/>
          <p:nvPr/>
        </p:nvSpPr>
        <p:spPr>
          <a:xfrm>
            <a:off x="457200" y="6400800"/>
            <a:ext cx="2743200" cy="274320"/>
          </a:xfrm>
          <a:prstGeom prst="rect">
            <a:avLst/>
          </a:prstGeom>
          <a:noFill/>
          <a:ln/>
        </p:spPr>
        <p:txBody>
          <a:bodyPr wrap="square" rtlCol="0" anchor="ctr"/>
          <a:lstStyle/>
          <a:p>
            <a:pPr marL="0" indent="0">
              <a:buNone/>
            </a:pPr>
            <a:r>
              <a:rPr lang="en-US" sz="1000" kern="0" spc="200" dirty="0">
                <a:solidFill>
                  <a:srgbClr val="9FB7CC"/>
                </a:solidFill>
                <a:latin typeface="Calibri" pitchFamily="34" charset="0"/>
                <a:ea typeface="Calibri" pitchFamily="34" charset="-122"/>
                <a:cs typeface="Calibri" pitchFamily="34" charset="-120"/>
              </a:rPr>
              <a:t>URBAN PULSE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532</Words>
  <Application>Microsoft Office PowerPoint</Application>
  <PresentationFormat>Widescreen</PresentationFormat>
  <Paragraphs>62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3</cp:revision>
  <dcterms:created xsi:type="dcterms:W3CDTF">2026-07-26T13:44:24Z</dcterms:created>
  <dcterms:modified xsi:type="dcterms:W3CDTF">2026-08-05T11:24:31Z</dcterms:modified>
</cp:coreProperties>
</file>