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393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· WEEKS 7–8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 Equity &amp; Executive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Platform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68680" y="3611880"/>
            <a:ext cx="1463040" cy="0"/>
          </a:xfrm>
          <a:prstGeom prst="line">
            <a:avLst/>
          </a:prstGeom>
          <a:noFill/>
          <a:ln w="38100">
            <a:solidFill>
              <a:srgbClr val="E27D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transit agencies can see overall ridership, but not who is being left behind. Access to reliable transport is uneven across zones, and planners lack a single, forecast-aware view to prioritize where to act next. This platform brings equity scoring, demand forecasting, and executive decision support together in one place.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46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Flow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carried this milestone from equity scoring through to a deployment-ready platform.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74520" y="3154680"/>
            <a:ext cx="8366760" cy="0"/>
          </a:xfrm>
          <a:prstGeom prst="line">
            <a:avLst/>
          </a:prstGeom>
          <a:noFill/>
          <a:ln w="25400">
            <a:solidFill>
              <a:srgbClr val="D8DE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834640"/>
            <a:ext cx="640080" cy="640080"/>
          </a:xfrm>
          <a:prstGeom prst="ellipse">
            <a:avLst/>
          </a:prstGeom>
          <a:solidFill>
            <a:srgbClr val="0B1F3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7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2468880" cy="2011680"/>
          </a:xfrm>
          <a:prstGeom prst="roundRect">
            <a:avLst>
              <a:gd name="adj" fmla="val 3182"/>
            </a:avLst>
          </a:prstGeom>
          <a:solidFill>
            <a:srgbClr val="E8EEF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Dashboard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634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Mobility Access Index and build zone-level equity dashboards.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834640"/>
            <a:ext cx="640080" cy="640080"/>
          </a:xfrm>
          <a:prstGeom prst="ellipse">
            <a:avLst/>
          </a:prstGeom>
          <a:solidFill>
            <a:srgbClr val="0B1F3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434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7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29000" y="3794760"/>
            <a:ext cx="2468880" cy="2011680"/>
          </a:xfrm>
          <a:prstGeom prst="roundRect">
            <a:avLst>
              <a:gd name="adj" fmla="val 3182"/>
            </a:avLst>
          </a:prstGeom>
          <a:solidFill>
            <a:srgbClr val="E8EEF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46634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up KPIs into a single leadership-facing intelligence view.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2834640"/>
            <a:ext cx="640080" cy="640080"/>
          </a:xfrm>
          <a:prstGeom prst="ellipse">
            <a:avLst/>
          </a:prstGeom>
          <a:solidFill>
            <a:srgbClr val="0B1F3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7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17920" y="3794760"/>
            <a:ext cx="2468880" cy="2011680"/>
          </a:xfrm>
          <a:prstGeom prst="roundRect">
            <a:avLst>
              <a:gd name="adj" fmla="val 3182"/>
            </a:avLst>
          </a:prstGeom>
          <a:solidFill>
            <a:srgbClr val="E8EE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Anomaly Detection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6634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demand forecasting and automated anomaly alerts to the trip data.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921240" y="2834640"/>
            <a:ext cx="640080" cy="640080"/>
          </a:xfrm>
          <a:prstGeom prst="ellipse">
            <a:avLst/>
          </a:prstGeom>
          <a:solidFill>
            <a:srgbClr val="0B1F3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2124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7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06840" y="3794760"/>
            <a:ext cx="2468880" cy="2011680"/>
          </a:xfrm>
          <a:prstGeom prst="roundRect">
            <a:avLst>
              <a:gd name="adj" fmla="val 3182"/>
            </a:avLst>
          </a:prstGeom>
          <a:solidFill>
            <a:srgbClr val="E8EEF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8972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Deployment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46634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dashboard performance and complete deployment readiness.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Trip-level mobility data covering one month across the city, joined with zone, weather, and demographic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1329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May 2024 – 31 May 2024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trip records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1329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Covered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8803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Dwaraka Nagar, Seethammadhara, MVP Colony, Gajuwaka, Madurawada, Rushikonda, Pendurthi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228600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1329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6676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8803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Cab, Bike, Bus, Auto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1329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8463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Cloudy, Heavy Rain, Light Rain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9120" y="425196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1329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8463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Trips, Avg Travel Time, Mobility Access Score, Service Coverage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425196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1329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66760" y="4434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84632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Group, Zone, Transport Mode filters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 Equity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98448" y="1600200"/>
            <a:ext cx="9601200" cy="4937760"/>
          </a:xfrm>
          <a:prstGeom prst="roundRect">
            <a:avLst>
              <a:gd name="adj" fmla="val 926"/>
            </a:avLst>
          </a:prstGeom>
          <a:solidFill>
            <a:srgbClr val="1329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F3423B-C01E-17CC-59A9-05C2EE99A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96" y="1600200"/>
            <a:ext cx="996782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46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 · Q&amp;A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 Equity — Questions &amp; Answers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768096"/>
          </a:xfrm>
          <a:prstGeom prst="roundRect">
            <a:avLst>
              <a:gd name="adj" fmla="val 7143"/>
            </a:avLst>
          </a:prstGeom>
          <a:solidFill>
            <a:srgbClr val="E8EEF3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46504"/>
            <a:ext cx="384048" cy="384048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7335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areas have the highest mobility access?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673352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Seethammadhara has the highest access, followed by Dwaraka Nagar and MVP Colony.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10881360" cy="768096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2642616"/>
            <a:ext cx="384048" cy="384048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56946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areas have the lowest mobility access?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569464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Gajuwaka has the lowest access, followed by Rushikonda and Madurawada.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10881360" cy="768096"/>
          </a:xfrm>
          <a:prstGeom prst="roundRect">
            <a:avLst>
              <a:gd name="adj" fmla="val 7143"/>
            </a:avLst>
          </a:prstGeom>
          <a:solidFill>
            <a:srgbClr val="E8EE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538728"/>
            <a:ext cx="384048" cy="384048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6557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areas appear underserved?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65576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Gajuwaka, Rushikonda, and Madurawada — all three carry very low mobility scores.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88536"/>
            <a:ext cx="10881360" cy="768096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4434840"/>
            <a:ext cx="384048" cy="384048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36168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contribute to low accessibility?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4361688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low service coverage (47.50), high travel time, and poor auto service in outer zones like Madurawada and Gajuwaka.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184648"/>
            <a:ext cx="10881360" cy="768096"/>
          </a:xfrm>
          <a:prstGeom prst="roundRect">
            <a:avLst>
              <a:gd name="adj" fmla="val 7143"/>
            </a:avLst>
          </a:prstGeom>
          <a:solidFill>
            <a:srgbClr val="E8EEF3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5330952"/>
            <a:ext cx="384048" cy="384048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2578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the city do to improve access?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5257800"/>
            <a:ext cx="6263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transit routes and increase vehicle frequency — Gajuwaka first, then Rushikonda and Madurawada — prioritizing by riders gained per added route.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46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 · INSIGHTS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06240"/>
          </a:xfrm>
          <a:prstGeom prst="roundRect">
            <a:avLst>
              <a:gd name="adj" fmla="val 1522"/>
            </a:avLst>
          </a:prstGeom>
          <a:solidFill>
            <a:srgbClr val="E8EE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7091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unevenly distributed: Seethammadhara, Dwaraka Nagar, and MVP Colony lead, while Gajuwaka, Rushikonda, and Madurawada trail far behind the citywide average of 51.32.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accessibility in these zones traces back to low service coverage (47.50), high average travel time, and weak auto/feeder connectivity in outer areas.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4206240"/>
          </a:xfrm>
          <a:prstGeom prst="roundRect">
            <a:avLst>
              <a:gd name="adj" fmla="val 1522"/>
            </a:avLst>
          </a:prstGeom>
          <a:solidFill>
            <a:srgbClr val="0B1F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31720"/>
            <a:ext cx="47091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→"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transit routes and raise vehicle frequency in Gajuwaka first — lowest score, largest underserved population.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→"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with Rushikonda and Madurawada.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→"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rollout by which zone gains the most riders per added route.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&amp; Anomaly Detection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98448" y="1600200"/>
            <a:ext cx="9601200" cy="4937760"/>
          </a:xfrm>
          <a:prstGeom prst="roundRect">
            <a:avLst>
              <a:gd name="adj" fmla="val 926"/>
            </a:avLst>
          </a:prstGeom>
          <a:solidFill>
            <a:srgbClr val="13293D"/>
          </a:solidFill>
          <a:ln/>
        </p:spPr>
      </p:sp>
      <p:pic>
        <p:nvPicPr>
          <p:cNvPr id="5" name="Image 0" descr="/home/claude/ppt/100027579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52" y="1600200"/>
            <a:ext cx="9601200" cy="4937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46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 · Q&amp;A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— Questions &amp; Answers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2148840"/>
          </a:xfrm>
          <a:prstGeom prst="roundRect">
            <a:avLst>
              <a:gd name="adj" fmla="val 2979"/>
            </a:avLst>
          </a:prstGeom>
          <a:solidFill>
            <a:srgbClr val="E8EE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are the unusual points in the demand trend, and when did they occur?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30, 2024 — a sharp demand spike to roughly 1,900 trips against a daily average of 600–700, the highest point on the chart.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10, 2024, Pendurthi — a dip with Mobility Access Score at 0.18 and travel time up to 62 minutes, well outside the normal range.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10881360" cy="2331720"/>
          </a:xfrm>
          <a:prstGeom prst="roundRect">
            <a:avLst>
              <a:gd name="adj" fmla="val 2745"/>
            </a:avLst>
          </a:prstGeom>
          <a:solidFill>
            <a:srgbClr val="0B1F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factors might explain each anomaly, and what would you recommend?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70916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30 spike — clear weather combined with higher-than-usual activity at month-end. Recommend keeping extra vehicles on standby for similar days.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10 Pendurthi dip — heavy rain, and only 8 transit routes to begin with. Recommend weather-resilient transit (covered stops, backup vehicles) in low-route zones first.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46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 · INSIGHTS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965960"/>
          </a:xfrm>
          <a:prstGeom prst="roundRect">
            <a:avLst>
              <a:gd name="adj" fmla="val 3256"/>
            </a:avLst>
          </a:prstGeom>
          <a:solidFill>
            <a:srgbClr val="E8EE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30 spike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weather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993392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combined with higher-than-usual travel activity across multiple zones at month-end.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92440" y="1965960"/>
            <a:ext cx="0" cy="150876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993392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46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Keep extra vehicles on standby for similar high-activity, clear-weather days.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0881360" cy="1965960"/>
          </a:xfrm>
          <a:prstGeom prst="roundRect">
            <a:avLst>
              <a:gd name="adj" fmla="val 3256"/>
            </a:avLst>
          </a:prstGeom>
          <a:solidFill>
            <a:srgbClr val="E8EE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133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10 Pendurthi dip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46177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617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187952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Pendurthi has only 8 transit routes to begin with, leaving little buffer when service was disrupted.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4160520"/>
            <a:ext cx="0" cy="150876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4187952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46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Prioritize weather-resilient transit — covered stops, backup vehicles — in low-route zones like Pendurthi first.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Mobility Intelligence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98448" y="1600200"/>
            <a:ext cx="9601200" cy="4937760"/>
          </a:xfrm>
          <a:prstGeom prst="roundRect">
            <a:avLst>
              <a:gd name="adj" fmla="val 926"/>
            </a:avLst>
          </a:prstGeom>
          <a:solidFill>
            <a:srgbClr val="13293D"/>
          </a:solidFill>
          <a:ln/>
        </p:spPr>
      </p:sp>
      <p:pic>
        <p:nvPicPr>
          <p:cNvPr id="5" name="Image 0" descr="/home/claude/ppt/10002761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600200"/>
            <a:ext cx="9674352" cy="4937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46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 · INSIGHTS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Insights &amp; Recommendations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572000"/>
          </a:xfrm>
          <a:prstGeom prst="roundRect">
            <a:avLst>
              <a:gd name="adj" fmla="val 1400"/>
            </a:avLst>
          </a:prstGeom>
          <a:solidFill>
            <a:srgbClr val="0B1F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ALERTS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95144"/>
            <a:ext cx="128016" cy="128016"/>
          </a:xfrm>
          <a:prstGeom prst="ellipse">
            <a:avLst/>
          </a:prstGeom>
          <a:solidFill>
            <a:srgbClr val="E27D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167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travel time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4963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Gajuwaka 54.0 min · Madurawada 48.8 min · Pendurthi 46.5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209544"/>
            <a:ext cx="128016" cy="128016"/>
          </a:xfrm>
          <a:prstGeom prst="ellipse">
            <a:avLst/>
          </a:prstGeom>
          <a:solidFill>
            <a:srgbClr val="E27D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0815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mobility access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4107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Gajuwaka 30.0 · Rushikonda 30.5 · Madurawada 32.3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123944"/>
            <a:ext cx="128016" cy="128016"/>
          </a:xfrm>
          <a:prstGeom prst="ellipse">
            <a:avLst/>
          </a:prstGeom>
          <a:solidFill>
            <a:srgbClr val="E27D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995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service coverage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3251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Gajuwaka 27.7% · Madurawada 28.6% · Rushikonda ~30%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5029200"/>
            <a:ext cx="4480560" cy="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212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7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845K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5212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underserved citywide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9320" y="1600200"/>
            <a:ext cx="5532120" cy="4800600"/>
          </a:xfrm>
          <a:prstGeom prst="roundRect">
            <a:avLst>
              <a:gd name="adj" fmla="val 1333"/>
            </a:avLst>
          </a:prstGeom>
          <a:solidFill>
            <a:srgbClr val="E8EE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1810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RECOMMENDATIONS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24028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C460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2240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660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Gajuwaka — high travel time &amp; low coverage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017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additional buses and increase route frequency.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56616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C99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35661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98678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last-mile mobility access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3434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auto/feeder connectivity in underserved zones.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489204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C460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48920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531266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Rushikonda &amp; Madurawada congestion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56692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traffic management and optimize routes.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2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delivered a complete, three-dashboard mobility intelligence platform — from raw trip data to executive decision support.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3293D"/>
          </a:solidFill>
          <a:ln w="12700">
            <a:solidFill>
              <a:srgbClr val="6FBF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44144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Equity Dashboard scoring every zone against a citywide access index of 51.32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3293D"/>
          </a:solidFill>
          <a:ln w="12700">
            <a:solidFill>
              <a:srgbClr val="6FBF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1868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Anomaly Detection dashboard flagging demand spikes and service dips in near real 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3293D"/>
          </a:solidFill>
          <a:ln w="12700">
            <a:solidFill>
              <a:srgbClr val="6FBF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99592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Mobility Intelligence Dashboard consolidating alerts and recommendations for leadership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3293D"/>
          </a:solidFill>
          <a:ln w="12700">
            <a:solidFill>
              <a:srgbClr val="6FBF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77316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845K underserved residents identified, with a prioritized, data-backed action plan for Gajuwaka, Rushikonda, Madurawada, and Pendurthi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623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status:  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56235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B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— all three dashboards deployed and validated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657600"/>
            <a:ext cx="5029200" cy="5029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74320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362956" y="3794760"/>
            <a:ext cx="1463040" cy="0"/>
          </a:xfrm>
          <a:prstGeom prst="line">
            <a:avLst/>
          </a:prstGeom>
          <a:noFill/>
          <a:ln w="38100">
            <a:solidFill>
              <a:srgbClr val="E27D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Equity &amp; Executive Intelligence Platform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974</Words>
  <Application>Microsoft Office PowerPoint</Application>
  <PresentationFormat>Widescreen</PresentationFormat>
  <Paragraphs>149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Tejasvi Kushwaha</cp:lastModifiedBy>
  <cp:revision>3</cp:revision>
  <dcterms:created xsi:type="dcterms:W3CDTF">2026-09-01T08:09:35Z</dcterms:created>
  <dcterms:modified xsi:type="dcterms:W3CDTF">2026-09-01T12:52:32Z</dcterms:modified>
</cp:coreProperties>
</file>